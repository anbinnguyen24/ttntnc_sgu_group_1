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x="18288000" cy="10287000"/>
  <p:notesSz cx="6858000" cy="9144000"/>
  <p:embeddedFontLst>
    <p:embeddedFont>
      <p:font typeface="Open Sans" charset="1" panose="00000000000000000000"/>
      <p:regular r:id="rId55"/>
    </p:embeddedFont>
    <p:embeddedFont>
      <p:font typeface="Open Sans Bold" charset="1" panose="00000000000000000000"/>
      <p:regular r:id="rId56"/>
    </p:embeddedFont>
    <p:embeddedFont>
      <p:font typeface="Barlow Condensed Bold" charset="1" panose="00000806000000000000"/>
      <p:regular r:id="rId57"/>
    </p:embeddedFont>
    <p:embeddedFont>
      <p:font typeface="Canva Sans Bold" charset="1" panose="020B0803030501040103"/>
      <p:regular r:id="rId58"/>
    </p:embeddedFont>
    <p:embeddedFont>
      <p:font typeface="Canva Sans" charset="1" panose="020B0503030501040103"/>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9.jpeg" Type="http://schemas.openxmlformats.org/officeDocument/2006/relationships/image"/><Relationship Id="rId5" Target="../media/image1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sp>
        <p:nvSpPr>
          <p:cNvPr name="TextBox 18" id="18"/>
          <p:cNvSpPr txBox="true"/>
          <p:nvPr/>
        </p:nvSpPr>
        <p:spPr>
          <a:xfrm rot="0">
            <a:off x="473588" y="1109281"/>
            <a:ext cx="9291601" cy="1495575"/>
          </a:xfrm>
          <a:prstGeom prst="rect">
            <a:avLst/>
          </a:prstGeom>
        </p:spPr>
        <p:txBody>
          <a:bodyPr anchor="t" rtlCol="false" tIns="0" lIns="0" bIns="0" rIns="0">
            <a:spAutoFit/>
          </a:bodyPr>
          <a:lstStyle/>
          <a:p>
            <a:pPr algn="l">
              <a:lnSpc>
                <a:spcPts val="6600"/>
              </a:lnSpc>
            </a:pPr>
            <a:r>
              <a:rPr lang="en-US" sz="6000" b="true">
                <a:solidFill>
                  <a:srgbClr val="02CDFF"/>
                </a:solidFill>
                <a:latin typeface="Barlow Condensed Bold"/>
                <a:ea typeface="Barlow Condensed Bold"/>
                <a:cs typeface="Barlow Condensed Bold"/>
                <a:sym typeface="Barlow Condensed Bold"/>
              </a:rPr>
              <a:t>Defining the Game: Tic-Tac-Toe</a:t>
            </a:r>
          </a:p>
          <a:p>
            <a:pPr algn="l">
              <a:lnSpc>
                <a:spcPts val="4976"/>
              </a:lnSpc>
            </a:pPr>
          </a:p>
        </p:txBody>
      </p:sp>
      <p:sp>
        <p:nvSpPr>
          <p:cNvPr name="TextBox 19" id="19"/>
          <p:cNvSpPr txBox="true"/>
          <p:nvPr/>
        </p:nvSpPr>
        <p:spPr>
          <a:xfrm rot="0">
            <a:off x="473588" y="2307592"/>
            <a:ext cx="17814412" cy="3039746"/>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Canva Sans Bold"/>
                <a:ea typeface="Canva Sans Bold"/>
                <a:cs typeface="Canva Sans Bold"/>
                <a:sym typeface="Canva Sans Bold"/>
              </a:rPr>
              <a:t>The Search Problem</a:t>
            </a:r>
          </a:p>
          <a:p>
            <a:pPr algn="l" marL="410209" indent="-205105" lvl="1">
              <a:lnSpc>
                <a:spcPts val="2659"/>
              </a:lnSpc>
              <a:buFont typeface="Arial"/>
              <a:buChar char="•"/>
            </a:pPr>
            <a:r>
              <a:rPr lang="en-US" sz="1899">
                <a:solidFill>
                  <a:srgbClr val="000000"/>
                </a:solidFill>
                <a:latin typeface="Canva Sans"/>
                <a:ea typeface="Canva Sans"/>
                <a:cs typeface="Canva Sans"/>
                <a:sym typeface="Canva Sans"/>
              </a:rPr>
              <a:t>Trạng thái ban đầu (Initial State): Bàn cờ trống, người chơi X đi trước.</a:t>
            </a:r>
          </a:p>
          <a:p>
            <a:pPr algn="l" marL="410209" indent="-205105" lvl="1">
              <a:lnSpc>
                <a:spcPts val="2659"/>
              </a:lnSpc>
              <a:buFont typeface="Arial"/>
              <a:buChar char="•"/>
            </a:pPr>
            <a:r>
              <a:rPr lang="en-US" sz="1899">
                <a:solidFill>
                  <a:srgbClr val="000000"/>
                </a:solidFill>
                <a:latin typeface="Canva Sans"/>
                <a:ea typeface="Canva Sans"/>
                <a:cs typeface="Canva Sans"/>
                <a:sym typeface="Canva Sans"/>
              </a:rPr>
              <a:t>Hành động (Actions): Đặt ký hiệu của mình (X hoặc O) vào ô trống bất kỳ.</a:t>
            </a:r>
          </a:p>
          <a:p>
            <a:pPr algn="l" marL="410209" indent="-205105" lvl="1">
              <a:lnSpc>
                <a:spcPts val="2659"/>
              </a:lnSpc>
              <a:buFont typeface="Arial"/>
              <a:buChar char="•"/>
            </a:pPr>
            <a:r>
              <a:rPr lang="en-US" sz="1899">
                <a:solidFill>
                  <a:srgbClr val="000000"/>
                </a:solidFill>
                <a:latin typeface="Canva Sans"/>
                <a:ea typeface="Canva Sans"/>
                <a:cs typeface="Canva Sans"/>
                <a:sym typeface="Canva Sans"/>
              </a:rPr>
              <a:t>Hàm chuyển trạng thái (Transition function / Result): Cập nhật bàn cờ sau khi người chơi thực hiện nước đi, sau đó đến lượt đối thủ (môi trường phi xác định vì đối thủ có thể đi bất kỳ cách nào).</a:t>
            </a:r>
          </a:p>
          <a:p>
            <a:pPr algn="l" marL="410209" indent="-205105" lvl="1">
              <a:lnSpc>
                <a:spcPts val="2659"/>
              </a:lnSpc>
              <a:buFont typeface="Arial"/>
              <a:buChar char="•"/>
            </a:pPr>
            <a:r>
              <a:rPr lang="en-US" sz="1899">
                <a:solidFill>
                  <a:srgbClr val="000000"/>
                </a:solidFill>
                <a:latin typeface="Canva Sans"/>
                <a:ea typeface="Canva Sans"/>
                <a:cs typeface="Canva Sans"/>
                <a:sym typeface="Canva Sans"/>
              </a:rPr>
              <a:t>Trạng thái đích (Goal / Terminal): Trò chơi kết thúc — có người thắng (3 ký hiệu liên tiếp hàng, cột hoặc chéo) hoặc hòa.</a:t>
            </a:r>
          </a:p>
          <a:p>
            <a:pPr algn="l" marL="410209" indent="-205105" lvl="1">
              <a:lnSpc>
                <a:spcPts val="2659"/>
              </a:lnSpc>
              <a:buFont typeface="Arial"/>
              <a:buChar char="•"/>
            </a:pPr>
            <a:r>
              <a:rPr lang="en-US" sz="1899">
                <a:solidFill>
                  <a:srgbClr val="000000"/>
                </a:solidFill>
                <a:latin typeface="Canva Sans"/>
                <a:ea typeface="Canva Sans"/>
                <a:cs typeface="Canva Sans"/>
                <a:sym typeface="Canva Sans"/>
              </a:rPr>
              <a:t>Hàm lợi ích (Utility): Đánh giá kết quả cuối cùng (thắng/thua/hòa) cho người chơi Max (thường là X).</a:t>
            </a:r>
          </a:p>
          <a:p>
            <a:pPr algn="l" marL="410209" indent="-205105" lvl="1">
              <a:lnSpc>
                <a:spcPts val="2659"/>
              </a:lnSpc>
              <a:buFont typeface="Arial"/>
              <a:buChar char="•"/>
            </a:pPr>
            <a:r>
              <a:rPr lang="en-US" sz="1899">
                <a:solidFill>
                  <a:srgbClr val="000000"/>
                </a:solidFill>
                <a:latin typeface="Canva Sans"/>
                <a:ea typeface="Canva Sans"/>
                <a:cs typeface="Canva Sans"/>
                <a:sym typeface="Canva Sans"/>
              </a:rPr>
              <a:t>Chi phí đường đi (Path cost): Số lượt đi, nhưng trong trò này ta bỏ qua vì dùng DFS (Depth-First Search) — không tìm lời giải tối ưu về số nước đi.</a:t>
            </a:r>
          </a:p>
        </p:txBody>
      </p:sp>
      <p:sp>
        <p:nvSpPr>
          <p:cNvPr name="TextBox 20" id="20"/>
          <p:cNvSpPr txBox="true"/>
          <p:nvPr/>
        </p:nvSpPr>
        <p:spPr>
          <a:xfrm rot="0">
            <a:off x="473588" y="6036088"/>
            <a:ext cx="9801767" cy="2039621"/>
          </a:xfrm>
          <a:prstGeom prst="rect">
            <a:avLst/>
          </a:prstGeom>
        </p:spPr>
        <p:txBody>
          <a:bodyPr anchor="t" rtlCol="false" tIns="0" lIns="0" bIns="0" rIns="0">
            <a:spAutoFit/>
          </a:bodyPr>
          <a:lstStyle/>
          <a:p>
            <a:pPr algn="l">
              <a:lnSpc>
                <a:spcPts val="5599"/>
              </a:lnSpc>
              <a:spcBef>
                <a:spcPct val="0"/>
              </a:spcBef>
            </a:pPr>
            <a:r>
              <a:rPr lang="en-US" b="true" sz="3999">
                <a:solidFill>
                  <a:srgbClr val="000000"/>
                </a:solidFill>
                <a:latin typeface="Canva Sans Bold"/>
                <a:ea typeface="Canva Sans Bold"/>
                <a:cs typeface="Canva Sans Bold"/>
                <a:sym typeface="Canva Sans Bold"/>
              </a:rPr>
              <a:t>Problem Size</a:t>
            </a:r>
          </a:p>
          <a:p>
            <a:pPr algn="l" marL="410209" indent="-205105" lvl="1">
              <a:lnSpc>
                <a:spcPts val="2659"/>
              </a:lnSpc>
              <a:buFont typeface="Arial"/>
              <a:buChar char="•"/>
            </a:pPr>
            <a:r>
              <a:rPr lang="en-US" sz="1899">
                <a:solidFill>
                  <a:srgbClr val="000000"/>
                </a:solidFill>
                <a:latin typeface="Canva Sans"/>
                <a:ea typeface="Canva Sans"/>
                <a:cs typeface="Canva Sans"/>
                <a:sym typeface="Canva Sans"/>
              </a:rPr>
              <a:t>Ước lượng kích thước không gian trạng thái (state space) của trò chơi Tic-Tac-Toe. </a:t>
            </a:r>
          </a:p>
          <a:p>
            <a:pPr algn="l" marL="410209" indent="-205105" lvl="1">
              <a:lnSpc>
                <a:spcPts val="2659"/>
              </a:lnSpc>
              <a:buFont typeface="Arial"/>
              <a:buChar char="•"/>
            </a:pPr>
            <a:r>
              <a:rPr lang="en-US" sz="1899">
                <a:solidFill>
                  <a:srgbClr val="000000"/>
                </a:solidFill>
                <a:latin typeface="Canva Sans"/>
                <a:ea typeface="Canva Sans"/>
                <a:cs typeface="Canva Sans"/>
                <a:sym typeface="Canva Sans"/>
              </a:rPr>
              <a:t>Mỗi trạng thái là một bàn cờ có 9 ô, mỗi ô có thể là trống, x, hoặc o → tối đa </a:t>
            </a:r>
          </a:p>
          <a:p>
            <a:pPr algn="l" marL="410209" indent="-205105" lvl="1">
              <a:lnSpc>
                <a:spcPts val="2659"/>
              </a:lnSpc>
              <a:buFont typeface="Arial"/>
              <a:buChar char="•"/>
            </a:pPr>
            <a:r>
              <a:rPr lang="en-US" sz="1899">
                <a:solidFill>
                  <a:srgbClr val="000000"/>
                </a:solidFill>
                <a:latin typeface="Canva Sans"/>
                <a:ea typeface="Canva Sans"/>
                <a:cs typeface="Canva Sans"/>
                <a:sym typeface="Canva Sans"/>
              </a:rPr>
              <a:t>3**9=19683 trạng thái.</a:t>
            </a:r>
          </a:p>
          <a:p>
            <a:pPr algn="l" marL="410209" indent="-205105" lvl="1">
              <a:lnSpc>
                <a:spcPts val="2659"/>
              </a:lnSpc>
              <a:buFont typeface="Arial"/>
              <a:buChar char="•"/>
            </a:pPr>
            <a:r>
              <a:rPr lang="en-US" sz="1899">
                <a:solidFill>
                  <a:srgbClr val="000000"/>
                </a:solidFill>
                <a:latin typeface="Canva Sans"/>
                <a:ea typeface="Canva Sans"/>
                <a:cs typeface="Canva Sans"/>
                <a:sym typeface="Canva Sans"/>
              </a:rPr>
              <a:t>Tuy nhiên, nhiều trạng thái là không hợp lệ (ví dụ: cả hai người cùng thắng).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259300" y="9258300"/>
            <a:ext cx="1028700" cy="1028700"/>
            <a:chOff x="0" y="0"/>
            <a:chExt cx="270933" cy="270933"/>
          </a:xfrm>
        </p:grpSpPr>
        <p:sp>
          <p:nvSpPr>
            <p:cNvPr name="Freeform 10" id="10"/>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1" id="11"/>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231741" y="4720851"/>
            <a:ext cx="8670412" cy="3195022"/>
          </a:xfrm>
          <a:custGeom>
            <a:avLst/>
            <a:gdLst/>
            <a:ahLst/>
            <a:cxnLst/>
            <a:rect r="r" b="b" t="t" l="l"/>
            <a:pathLst>
              <a:path h="3195022" w="8670412">
                <a:moveTo>
                  <a:pt x="0" y="0"/>
                </a:moveTo>
                <a:lnTo>
                  <a:pt x="8670412" y="0"/>
                </a:lnTo>
                <a:lnTo>
                  <a:pt x="8670412" y="3195022"/>
                </a:lnTo>
                <a:lnTo>
                  <a:pt x="0" y="3195022"/>
                </a:lnTo>
                <a:lnTo>
                  <a:pt x="0" y="0"/>
                </a:lnTo>
                <a:close/>
              </a:path>
            </a:pathLst>
          </a:custGeom>
          <a:blipFill>
            <a:blip r:embed="rId4"/>
            <a:stretch>
              <a:fillRect l="0" t="0" r="0" b="0"/>
            </a:stretch>
          </a:blipFill>
        </p:spPr>
      </p:sp>
      <p:sp>
        <p:nvSpPr>
          <p:cNvPr name="Freeform 13" id="13"/>
          <p:cNvSpPr/>
          <p:nvPr/>
        </p:nvSpPr>
        <p:spPr>
          <a:xfrm flipH="false" flipV="false" rot="0">
            <a:off x="9405039" y="3257580"/>
            <a:ext cx="8392423" cy="1651765"/>
          </a:xfrm>
          <a:custGeom>
            <a:avLst/>
            <a:gdLst/>
            <a:ahLst/>
            <a:cxnLst/>
            <a:rect r="r" b="b" t="t" l="l"/>
            <a:pathLst>
              <a:path h="1651765" w="8392423">
                <a:moveTo>
                  <a:pt x="0" y="0"/>
                </a:moveTo>
                <a:lnTo>
                  <a:pt x="8392424" y="0"/>
                </a:lnTo>
                <a:lnTo>
                  <a:pt x="8392424" y="1651765"/>
                </a:lnTo>
                <a:lnTo>
                  <a:pt x="0" y="1651765"/>
                </a:lnTo>
                <a:lnTo>
                  <a:pt x="0" y="0"/>
                </a:lnTo>
                <a:close/>
              </a:path>
            </a:pathLst>
          </a:custGeom>
          <a:blipFill>
            <a:blip r:embed="rId5"/>
            <a:stretch>
              <a:fillRect l="0" t="0" r="0" b="0"/>
            </a:stretch>
          </a:blipFill>
        </p:spPr>
      </p:sp>
      <p:sp>
        <p:nvSpPr>
          <p:cNvPr name="Freeform 14" id="14"/>
          <p:cNvSpPr/>
          <p:nvPr/>
        </p:nvSpPr>
        <p:spPr>
          <a:xfrm flipH="false" flipV="false" rot="0">
            <a:off x="9405039" y="5790036"/>
            <a:ext cx="8392423" cy="2510450"/>
          </a:xfrm>
          <a:custGeom>
            <a:avLst/>
            <a:gdLst/>
            <a:ahLst/>
            <a:cxnLst/>
            <a:rect r="r" b="b" t="t" l="l"/>
            <a:pathLst>
              <a:path h="2510450" w="8392423">
                <a:moveTo>
                  <a:pt x="0" y="0"/>
                </a:moveTo>
                <a:lnTo>
                  <a:pt x="8392424" y="0"/>
                </a:lnTo>
                <a:lnTo>
                  <a:pt x="8392424" y="2510451"/>
                </a:lnTo>
                <a:lnTo>
                  <a:pt x="0" y="2510451"/>
                </a:lnTo>
                <a:lnTo>
                  <a:pt x="0" y="0"/>
                </a:lnTo>
                <a:close/>
              </a:path>
            </a:pathLst>
          </a:custGeom>
          <a:blipFill>
            <a:blip r:embed="rId6"/>
            <a:stretch>
              <a:fillRect l="0" t="0" r="0" b="0"/>
            </a:stretch>
          </a:blipFill>
        </p:spPr>
      </p:sp>
      <p:sp>
        <p:nvSpPr>
          <p:cNvPr name="TextBox 15" id="15"/>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6" id="16"/>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7" id="17"/>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8" id="18"/>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9" id="19"/>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20" id="20"/>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sp>
        <p:nvSpPr>
          <p:cNvPr name="TextBox 21" id="21"/>
          <p:cNvSpPr txBox="true"/>
          <p:nvPr/>
        </p:nvSpPr>
        <p:spPr>
          <a:xfrm rot="0">
            <a:off x="473588" y="1066800"/>
            <a:ext cx="9291601" cy="1018206"/>
          </a:xfrm>
          <a:prstGeom prst="rect">
            <a:avLst/>
          </a:prstGeom>
        </p:spPr>
        <p:txBody>
          <a:bodyPr anchor="t" rtlCol="false" tIns="0" lIns="0" bIns="0" rIns="0">
            <a:spAutoFit/>
          </a:bodyPr>
          <a:lstStyle/>
          <a:p>
            <a:pPr algn="l">
              <a:lnSpc>
                <a:spcPts val="4866"/>
              </a:lnSpc>
            </a:pPr>
            <a:r>
              <a:rPr lang="en-US" sz="4423" b="true">
                <a:solidFill>
                  <a:srgbClr val="02CDFF"/>
                </a:solidFill>
                <a:latin typeface="Barlow Condensed Bold"/>
                <a:ea typeface="Barlow Condensed Bold"/>
                <a:cs typeface="Barlow Condensed Bold"/>
                <a:sym typeface="Barlow Condensed Bold"/>
              </a:rPr>
              <a:t>Defining the Game: Tic-Tac-Toe</a:t>
            </a:r>
          </a:p>
          <a:p>
            <a:pPr algn="l">
              <a:lnSpc>
                <a:spcPts val="3216"/>
              </a:lnSpc>
            </a:pPr>
          </a:p>
        </p:txBody>
      </p:sp>
      <p:sp>
        <p:nvSpPr>
          <p:cNvPr name="TextBox 22" id="22"/>
          <p:cNvSpPr txBox="true"/>
          <p:nvPr/>
        </p:nvSpPr>
        <p:spPr>
          <a:xfrm rot="0">
            <a:off x="473588" y="2027856"/>
            <a:ext cx="6620729" cy="481331"/>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Canva Sans Bold"/>
                <a:ea typeface="Canva Sans Bold"/>
                <a:cs typeface="Canva Sans Bold"/>
                <a:sym typeface="Canva Sans Bold"/>
              </a:rPr>
              <a:t>Để ước lượng chặt chẽ hơn, ta tính: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259300" y="9258300"/>
            <a:ext cx="1028700" cy="1028700"/>
            <a:chOff x="0" y="0"/>
            <a:chExt cx="270933" cy="270933"/>
          </a:xfrm>
        </p:grpSpPr>
        <p:sp>
          <p:nvSpPr>
            <p:cNvPr name="Freeform 10" id="10"/>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1" id="11"/>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8431144" y="3201420"/>
            <a:ext cx="9616238" cy="2946015"/>
          </a:xfrm>
          <a:custGeom>
            <a:avLst/>
            <a:gdLst/>
            <a:ahLst/>
            <a:cxnLst/>
            <a:rect r="r" b="b" t="t" l="l"/>
            <a:pathLst>
              <a:path h="2946015" w="9616238">
                <a:moveTo>
                  <a:pt x="0" y="0"/>
                </a:moveTo>
                <a:lnTo>
                  <a:pt x="9616238" y="0"/>
                </a:lnTo>
                <a:lnTo>
                  <a:pt x="9616238" y="2946015"/>
                </a:lnTo>
                <a:lnTo>
                  <a:pt x="0" y="2946015"/>
                </a:lnTo>
                <a:lnTo>
                  <a:pt x="0" y="0"/>
                </a:lnTo>
                <a:close/>
              </a:path>
            </a:pathLst>
          </a:custGeom>
          <a:blipFill>
            <a:blip r:embed="rId4"/>
            <a:stretch>
              <a:fillRect l="0" t="0" r="0" b="0"/>
            </a:stretch>
          </a:blipFill>
        </p:spPr>
      </p:sp>
      <p:sp>
        <p:nvSpPr>
          <p:cNvPr name="TextBox 13" id="13"/>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4" id="14"/>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5" id="15"/>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6" id="16"/>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7" id="17"/>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18" id="18"/>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sp>
        <p:nvSpPr>
          <p:cNvPr name="TextBox 19" id="19"/>
          <p:cNvSpPr txBox="true"/>
          <p:nvPr/>
        </p:nvSpPr>
        <p:spPr>
          <a:xfrm rot="0">
            <a:off x="473588" y="1057275"/>
            <a:ext cx="11300793" cy="574675"/>
          </a:xfrm>
          <a:prstGeom prst="rect">
            <a:avLst/>
          </a:prstGeom>
        </p:spPr>
        <p:txBody>
          <a:bodyPr anchor="t" rtlCol="false" tIns="0" lIns="0" bIns="0" rIns="0">
            <a:spAutoFit/>
          </a:bodyPr>
          <a:lstStyle/>
          <a:p>
            <a:pPr algn="l">
              <a:lnSpc>
                <a:spcPts val="4399"/>
              </a:lnSpc>
            </a:pPr>
            <a:r>
              <a:rPr lang="en-US" sz="3999" b="true">
                <a:solidFill>
                  <a:srgbClr val="02CDFF"/>
                </a:solidFill>
                <a:latin typeface="Barlow Condensed Bold"/>
                <a:ea typeface="Barlow Condensed Bold"/>
                <a:cs typeface="Barlow Condensed Bold"/>
                <a:sym typeface="Barlow Condensed Bold"/>
              </a:rPr>
              <a:t>Space and Time Complexity Using the Search Tree Estimates</a:t>
            </a:r>
          </a:p>
        </p:txBody>
      </p:sp>
      <p:sp>
        <p:nvSpPr>
          <p:cNvPr name="TextBox 20" id="20"/>
          <p:cNvSpPr txBox="true"/>
          <p:nvPr/>
        </p:nvSpPr>
        <p:spPr>
          <a:xfrm rot="0">
            <a:off x="473588" y="2493520"/>
            <a:ext cx="8177321" cy="5059045"/>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Canva Sans"/>
                <a:ea typeface="Canva Sans"/>
                <a:cs typeface="Canva Sans"/>
                <a:sym typeface="Canva Sans"/>
              </a:rPr>
              <a:t>1. Actions(s) – xác định các nước đi hợp lệ trong trạng thái s</a:t>
            </a:r>
          </a:p>
          <a:p>
            <a:pPr algn="l">
              <a:lnSpc>
                <a:spcPts val="3079"/>
              </a:lnSpc>
              <a:spcBef>
                <a:spcPct val="0"/>
              </a:spcBef>
            </a:pPr>
            <a:r>
              <a:rPr lang="en-US" sz="2199">
                <a:solidFill>
                  <a:srgbClr val="000000"/>
                </a:solidFill>
                <a:latin typeface="Canva Sans"/>
                <a:ea typeface="Canva Sans"/>
                <a:cs typeface="Canva Sans"/>
                <a:sym typeface="Canva Sans"/>
              </a:rPr>
              <a:t>→ trả về danh sách các ô trống có thể đánh (0–8).</a:t>
            </a:r>
          </a:p>
          <a:p>
            <a:pPr algn="l">
              <a:lnSpc>
                <a:spcPts val="3079"/>
              </a:lnSpc>
              <a:spcBef>
                <a:spcPct val="0"/>
              </a:spcBef>
            </a:pPr>
            <a:r>
              <a:rPr lang="en-US" sz="2199">
                <a:solidFill>
                  <a:srgbClr val="000000"/>
                </a:solidFill>
                <a:latin typeface="Canva Sans"/>
                <a:ea typeface="Canva Sans"/>
                <a:cs typeface="Canva Sans"/>
                <a:sym typeface="Canva Sans"/>
              </a:rPr>
              <a:t>2. Result(s, a) – mô hình chuyển trạng thái</a:t>
            </a:r>
          </a:p>
          <a:p>
            <a:pPr algn="l">
              <a:lnSpc>
                <a:spcPts val="3079"/>
              </a:lnSpc>
              <a:spcBef>
                <a:spcPct val="0"/>
              </a:spcBef>
            </a:pPr>
            <a:r>
              <a:rPr lang="en-US" sz="2199">
                <a:solidFill>
                  <a:srgbClr val="000000"/>
                </a:solidFill>
                <a:latin typeface="Canva Sans"/>
                <a:ea typeface="Canva Sans"/>
                <a:cs typeface="Canva Sans"/>
                <a:sym typeface="Canva Sans"/>
              </a:rPr>
              <a:t>→ trả về bàn cờ mới sau khi người chơi thực hiện hành động a.</a:t>
            </a:r>
          </a:p>
          <a:p>
            <a:pPr algn="l">
              <a:lnSpc>
                <a:spcPts val="3079"/>
              </a:lnSpc>
              <a:spcBef>
                <a:spcPct val="0"/>
              </a:spcBef>
            </a:pPr>
            <a:r>
              <a:rPr lang="en-US" sz="2199">
                <a:solidFill>
                  <a:srgbClr val="000000"/>
                </a:solidFill>
                <a:latin typeface="Canva Sans"/>
                <a:ea typeface="Canva Sans"/>
                <a:cs typeface="Canva Sans"/>
                <a:sym typeface="Canva Sans"/>
              </a:rPr>
              <a:t>3. Terminal(s) – kiểm tra trạng thái kết thúc</a:t>
            </a:r>
          </a:p>
          <a:p>
            <a:pPr algn="l">
              <a:lnSpc>
                <a:spcPts val="3079"/>
              </a:lnSpc>
              <a:spcBef>
                <a:spcPct val="0"/>
              </a:spcBef>
            </a:pPr>
            <a:r>
              <a:rPr lang="en-US" sz="2199">
                <a:solidFill>
                  <a:srgbClr val="000000"/>
                </a:solidFill>
                <a:latin typeface="Canva Sans"/>
                <a:ea typeface="Canva Sans"/>
                <a:cs typeface="Canva Sans"/>
                <a:sym typeface="Canva Sans"/>
              </a:rPr>
              <a:t>→ True nếu trò chơi kết thúc (có người thắng hoặc hòa).</a:t>
            </a:r>
          </a:p>
          <a:p>
            <a:pPr algn="l">
              <a:lnSpc>
                <a:spcPts val="3079"/>
              </a:lnSpc>
              <a:spcBef>
                <a:spcPct val="0"/>
              </a:spcBef>
            </a:pPr>
            <a:r>
              <a:rPr lang="en-US" sz="2199">
                <a:solidFill>
                  <a:srgbClr val="000000"/>
                </a:solidFill>
                <a:latin typeface="Canva Sans"/>
                <a:ea typeface="Canva Sans"/>
                <a:cs typeface="Canva Sans"/>
                <a:sym typeface="Canva Sans"/>
              </a:rPr>
              <a:t>4. Utility(s) – giá trị lợi ích (điểm) cho người chơi Max (x)</a:t>
            </a:r>
          </a:p>
          <a:p>
            <a:pPr algn="l">
              <a:lnSpc>
                <a:spcPts val="3079"/>
              </a:lnSpc>
              <a:spcBef>
                <a:spcPct val="0"/>
              </a:spcBef>
            </a:pPr>
            <a:r>
              <a:rPr lang="en-US" sz="2199">
                <a:solidFill>
                  <a:srgbClr val="000000"/>
                </a:solidFill>
                <a:latin typeface="Canva Sans"/>
                <a:ea typeface="Canva Sans"/>
                <a:cs typeface="Canva Sans"/>
                <a:sym typeface="Canva Sans"/>
              </a:rPr>
              <a:t>→ +1 nếu x thắng, -1 nếu o thắng, 0 nếu hòa.</a:t>
            </a:r>
          </a:p>
          <a:p>
            <a:pPr algn="l" marL="474978" indent="-237489" lvl="1">
              <a:lnSpc>
                <a:spcPts val="3079"/>
              </a:lnSpc>
              <a:buFont typeface="Arial"/>
              <a:buChar char="•"/>
            </a:pPr>
            <a:r>
              <a:rPr lang="en-US" sz="2199">
                <a:solidFill>
                  <a:srgbClr val="000000"/>
                </a:solidFill>
                <a:latin typeface="Canva Sans"/>
                <a:ea typeface="Canva Sans"/>
                <a:cs typeface="Canva Sans"/>
                <a:sym typeface="Canva Sans"/>
              </a:rPr>
              <a:t>Mỗi bàn cờ là một list gồm 9 phần tử:</a:t>
            </a:r>
          </a:p>
          <a:p>
            <a:pPr algn="l" marL="949956" indent="-316652" lvl="2">
              <a:lnSpc>
                <a:spcPts val="3079"/>
              </a:lnSpc>
              <a:buFont typeface="Arial"/>
              <a:buChar char="⚬"/>
            </a:pPr>
            <a:r>
              <a:rPr lang="en-US" sz="2199">
                <a:solidFill>
                  <a:srgbClr val="000000"/>
                </a:solidFill>
                <a:latin typeface="Canva Sans"/>
                <a:ea typeface="Canva Sans"/>
                <a:cs typeface="Canva Sans"/>
                <a:sym typeface="Canva Sans"/>
              </a:rPr>
              <a:t> ' ' : ô trống</a:t>
            </a:r>
          </a:p>
          <a:p>
            <a:pPr algn="l" marL="949956" indent="-316652" lvl="2">
              <a:lnSpc>
                <a:spcPts val="3079"/>
              </a:lnSpc>
              <a:buFont typeface="Arial"/>
              <a:buChar char="⚬"/>
            </a:pPr>
            <a:r>
              <a:rPr lang="en-US" sz="2199">
                <a:solidFill>
                  <a:srgbClr val="000000"/>
                </a:solidFill>
                <a:latin typeface="Canva Sans"/>
                <a:ea typeface="Canva Sans"/>
                <a:cs typeface="Canva Sans"/>
                <a:sym typeface="Canva Sans"/>
              </a:rPr>
              <a:t> 'x' : người chơi X</a:t>
            </a:r>
          </a:p>
          <a:p>
            <a:pPr algn="l" marL="949956" indent="-316652" lvl="2">
              <a:lnSpc>
                <a:spcPts val="3079"/>
              </a:lnSpc>
              <a:buFont typeface="Arial"/>
              <a:buChar char="⚬"/>
            </a:pPr>
            <a:r>
              <a:rPr lang="en-US" sz="2199">
                <a:solidFill>
                  <a:srgbClr val="000000"/>
                </a:solidFill>
                <a:latin typeface="Canva Sans"/>
                <a:ea typeface="Canva Sans"/>
                <a:cs typeface="Canva Sans"/>
                <a:sym typeface="Canva Sans"/>
              </a:rPr>
              <a:t> 'o' : người chơi O</a:t>
            </a:r>
          </a:p>
          <a:p>
            <a:pPr algn="l" marL="474978" indent="-237489" lvl="1">
              <a:lnSpc>
                <a:spcPts val="3079"/>
              </a:lnSpc>
              <a:buFont typeface="Arial"/>
              <a:buChar char="•"/>
            </a:pPr>
            <a:r>
              <a:rPr lang="en-US" sz="2199">
                <a:solidFill>
                  <a:srgbClr val="000000"/>
                </a:solidFill>
                <a:latin typeface="Canva Sans"/>
                <a:ea typeface="Canva Sans"/>
                <a:cs typeface="Canva Sans"/>
                <a:sym typeface="Canva Sans"/>
              </a:rPr>
              <a:t>Các hành động (actions) là chỉ số ô (0–8).</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259300" y="9258300"/>
            <a:ext cx="1028700" cy="1028700"/>
            <a:chOff x="0" y="0"/>
            <a:chExt cx="270933" cy="270933"/>
          </a:xfrm>
        </p:grpSpPr>
        <p:sp>
          <p:nvSpPr>
            <p:cNvPr name="Freeform 10" id="10"/>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1" id="11"/>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3" id="13"/>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4" id="14"/>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5" id="15"/>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6" id="16"/>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sp>
        <p:nvSpPr>
          <p:cNvPr name="TextBox 18" id="18"/>
          <p:cNvSpPr txBox="true"/>
          <p:nvPr/>
        </p:nvSpPr>
        <p:spPr>
          <a:xfrm rot="0">
            <a:off x="473588" y="1066800"/>
            <a:ext cx="9403223" cy="876300"/>
          </a:xfrm>
          <a:prstGeom prst="rect">
            <a:avLst/>
          </a:prstGeom>
        </p:spPr>
        <p:txBody>
          <a:bodyPr anchor="t" rtlCol="false" tIns="0" lIns="0" bIns="0" rIns="0">
            <a:spAutoFit/>
          </a:bodyPr>
          <a:lstStyle/>
          <a:p>
            <a:pPr algn="l">
              <a:lnSpc>
                <a:spcPts val="6600"/>
              </a:lnSpc>
            </a:pPr>
            <a:r>
              <a:rPr lang="en-US" sz="6000" b="true">
                <a:solidFill>
                  <a:srgbClr val="02CDFF"/>
                </a:solidFill>
                <a:latin typeface="Barlow Condensed Bold"/>
                <a:ea typeface="Barlow Condensed Bold"/>
                <a:cs typeface="Barlow Condensed Bold"/>
                <a:sym typeface="Barlow Condensed Bold"/>
              </a:rPr>
              <a:t>Heuristic alpha beta tree search</a:t>
            </a:r>
          </a:p>
        </p:txBody>
      </p:sp>
      <p:sp>
        <p:nvSpPr>
          <p:cNvPr name="TextBox 19" id="19"/>
          <p:cNvSpPr txBox="true"/>
          <p:nvPr/>
        </p:nvSpPr>
        <p:spPr>
          <a:xfrm rot="0">
            <a:off x="473588" y="2152650"/>
            <a:ext cx="3509908"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2CDFF"/>
                </a:solidFill>
                <a:latin typeface="Canva Sans Bold"/>
                <a:ea typeface="Canva Sans Bold"/>
                <a:cs typeface="Canva Sans Bold"/>
                <a:sym typeface="Canva Sans Bold"/>
              </a:rPr>
              <a:t>Introduction</a:t>
            </a:r>
          </a:p>
        </p:txBody>
      </p:sp>
      <p:sp>
        <p:nvSpPr>
          <p:cNvPr name="TextBox 20" id="20"/>
          <p:cNvSpPr txBox="true"/>
          <p:nvPr/>
        </p:nvSpPr>
        <p:spPr>
          <a:xfrm rot="0">
            <a:off x="655482" y="2884133"/>
            <a:ext cx="16977036" cy="6994525"/>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Canva Sans"/>
                <a:ea typeface="Canva Sans"/>
                <a:cs typeface="Canva Sans"/>
                <a:sym typeface="Canva Sans"/>
              </a:rPr>
              <a:t>1. Trò chơi đối kháng (Zero-sum game):</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Max (người chơi X) cố gắng tối đa hóa điểm số.</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Min (người chơi O) cố gắng tối thiểu hóa điểm số.</a:t>
            </a:r>
          </a:p>
          <a:p>
            <a:pPr algn="l" marL="539749" indent="-269875" lvl="1">
              <a:lnSpc>
                <a:spcPts val="3499"/>
              </a:lnSpc>
              <a:buFont typeface="Arial"/>
              <a:buChar char="•"/>
            </a:pPr>
            <a:r>
              <a:rPr lang="en-US" sz="2499">
                <a:solidFill>
                  <a:srgbClr val="000000"/>
                </a:solidFill>
                <a:latin typeface="Canva Sans"/>
                <a:ea typeface="Canva Sans"/>
                <a:cs typeface="Canva Sans"/>
                <a:sym typeface="Canva Sans"/>
              </a:rPr>
              <a:t>Kết quả:</a:t>
            </a:r>
          </a:p>
          <a:p>
            <a:pPr algn="l" marL="1079499" indent="-359833" lvl="2">
              <a:lnSpc>
                <a:spcPts val="3499"/>
              </a:lnSpc>
              <a:buFont typeface="Arial"/>
              <a:buChar char="⚬"/>
            </a:pPr>
            <a:r>
              <a:rPr lang="en-US" sz="2499">
                <a:solidFill>
                  <a:srgbClr val="000000"/>
                </a:solidFill>
                <a:latin typeface="Canva Sans"/>
                <a:ea typeface="Canva Sans"/>
                <a:cs typeface="Canva Sans"/>
                <a:sym typeface="Canva Sans"/>
              </a:rPr>
              <a:t>n X thắng → giá trị +1</a:t>
            </a:r>
          </a:p>
          <a:p>
            <a:pPr algn="l" marL="1079499" indent="-359833" lvl="2">
              <a:lnSpc>
                <a:spcPts val="3499"/>
              </a:lnSpc>
              <a:buFont typeface="Arial"/>
              <a:buChar char="⚬"/>
            </a:pPr>
            <a:r>
              <a:rPr lang="en-US" sz="2499">
                <a:solidFill>
                  <a:srgbClr val="000000"/>
                </a:solidFill>
                <a:latin typeface="Canva Sans"/>
                <a:ea typeface="Canva Sans"/>
                <a:cs typeface="Canva Sans"/>
                <a:sym typeface="Canva Sans"/>
              </a:rPr>
              <a:t>n O thắng → giá trị -1</a:t>
            </a:r>
          </a:p>
          <a:p>
            <a:pPr algn="l" marL="1079499" indent="-359833" lvl="2">
              <a:lnSpc>
                <a:spcPts val="3499"/>
              </a:lnSpc>
              <a:buFont typeface="Arial"/>
              <a:buChar char="⚬"/>
            </a:pPr>
            <a:r>
              <a:rPr lang="en-US" sz="2499">
                <a:solidFill>
                  <a:srgbClr val="000000"/>
                </a:solidFill>
                <a:latin typeface="Canva Sans"/>
                <a:ea typeface="Canva Sans"/>
                <a:cs typeface="Canva Sans"/>
                <a:sym typeface="Canva Sans"/>
              </a:rPr>
              <a:t>n Hòa → giá trị 0</a:t>
            </a:r>
          </a:p>
          <a:p>
            <a:pPr algn="l">
              <a:lnSpc>
                <a:spcPts val="3499"/>
              </a:lnSpc>
              <a:spcBef>
                <a:spcPct val="0"/>
              </a:spcBef>
            </a:pPr>
            <a:r>
              <a:rPr lang="en-US" sz="2499">
                <a:solidFill>
                  <a:srgbClr val="000000"/>
                </a:solidFill>
                <a:latin typeface="Canva Sans"/>
                <a:ea typeface="Canva Sans"/>
                <a:cs typeface="Canva Sans"/>
                <a:sym typeface="Canva Sans"/>
              </a:rPr>
              <a:t>2. Các loại tìm kiếm trong game:</a:t>
            </a:r>
          </a:p>
          <a:p>
            <a:pPr algn="l">
              <a:lnSpc>
                <a:spcPts val="3499"/>
              </a:lnSpc>
            </a:pPr>
            <a:r>
              <a:rPr lang="en-US" sz="2499">
                <a:solidFill>
                  <a:srgbClr val="000000"/>
                </a:solidFill>
                <a:latin typeface="Canva Sans"/>
                <a:ea typeface="Canva Sans"/>
                <a:cs typeface="Canva Sans"/>
                <a:sym typeface="Canva Sans"/>
              </a:rPr>
              <a:t>Minimax search: duyệt toàn bộ cây trò chơi để chọn nước đi tối ưu.</a:t>
            </a:r>
          </a:p>
          <a:p>
            <a:pPr algn="l" marL="1079499" indent="-359833" lvl="2">
              <a:lnSpc>
                <a:spcPts val="3499"/>
              </a:lnSpc>
              <a:buFont typeface="Arial"/>
              <a:buChar char="⚬"/>
            </a:pPr>
            <a:r>
              <a:rPr lang="en-US" sz="2499">
                <a:solidFill>
                  <a:srgbClr val="000000"/>
                </a:solidFill>
                <a:latin typeface="Canva Sans"/>
                <a:ea typeface="Canva Sans"/>
                <a:cs typeface="Canva Sans"/>
                <a:sym typeface="Canva Sans"/>
              </a:rPr>
              <a:t>Alpha-Beta pruning: loại bỏ (cắt tỉa) các nhánh không cần thiết để tăng tốc Minimax.</a:t>
            </a:r>
          </a:p>
          <a:p>
            <a:pPr algn="l" marL="1079499" indent="-359833" lvl="2">
              <a:lnSpc>
                <a:spcPts val="3499"/>
              </a:lnSpc>
              <a:buFont typeface="Arial"/>
              <a:buChar char="⚬"/>
            </a:pPr>
            <a:r>
              <a:rPr lang="en-US" sz="2499">
                <a:solidFill>
                  <a:srgbClr val="000000"/>
                </a:solidFill>
                <a:latin typeface="Canva Sans"/>
                <a:ea typeface="Canva Sans"/>
                <a:cs typeface="Canva Sans"/>
                <a:sym typeface="Canva Sans"/>
              </a:rPr>
              <a:t>Heuristic Alpha-Beta Tree Search: cắt bớt độ sâu tìm kiếm và dùng hàm heuristic để ước lượng giá trị trạng thái khi chưa tới nút cuối.</a:t>
            </a:r>
          </a:p>
          <a:p>
            <a:pPr algn="l" marL="1079499" indent="-359833" lvl="2">
              <a:lnSpc>
                <a:spcPts val="3499"/>
              </a:lnSpc>
              <a:buFont typeface="Arial"/>
              <a:buChar char="⚬"/>
            </a:pPr>
            <a:r>
              <a:rPr lang="en-US" sz="2499">
                <a:solidFill>
                  <a:srgbClr val="000000"/>
                </a:solidFill>
                <a:latin typeface="Canva Sans"/>
                <a:ea typeface="Canva Sans"/>
                <a:cs typeface="Canva Sans"/>
                <a:sym typeface="Canva Sans"/>
              </a:rPr>
              <a:t>Monte Carlo Tree Search: mô phỏng nhiều ván chơi ngẫu nhiên để ước lượng giá trị nước đi.</a:t>
            </a:r>
          </a:p>
          <a:p>
            <a:pPr algn="l">
              <a:lnSpc>
                <a:spcPts val="3499"/>
              </a:lnSpc>
              <a:spcBef>
                <a:spcPct val="0"/>
              </a:spcBef>
            </a:pPr>
            <a:r>
              <a:rPr lang="en-US" sz="2499">
                <a:solidFill>
                  <a:srgbClr val="000000"/>
                </a:solidFill>
                <a:latin typeface="Canva Sans"/>
                <a:ea typeface="Canva Sans"/>
                <a:cs typeface="Canva Sans"/>
                <a:sym typeface="Canva Sans"/>
              </a:rPr>
              <a:t>Cài đặt Heuristic Alpha-Beta Tree Search cho Tic-Tac-Toe — thuật toán sẽ tìm trong cây trạng thái các nước đi khả dĩ, dùng heuristic để đánh giá khi không thể duyệt hết, và trả về nước đi tối ưu tiếp theo (không phải toàn bộ kế hoạch chơi).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259300" y="9258300"/>
            <a:ext cx="1028700" cy="1028700"/>
            <a:chOff x="0" y="0"/>
            <a:chExt cx="270933" cy="270933"/>
          </a:xfrm>
        </p:grpSpPr>
        <p:sp>
          <p:nvSpPr>
            <p:cNvPr name="Freeform 10" id="10"/>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1" id="11"/>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3" id="13"/>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4" id="14"/>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5" id="15"/>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6" id="16"/>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sp>
        <p:nvSpPr>
          <p:cNvPr name="TextBox 18" id="18"/>
          <p:cNvSpPr txBox="true"/>
          <p:nvPr/>
        </p:nvSpPr>
        <p:spPr>
          <a:xfrm rot="0">
            <a:off x="473588" y="1066800"/>
            <a:ext cx="9403223" cy="876300"/>
          </a:xfrm>
          <a:prstGeom prst="rect">
            <a:avLst/>
          </a:prstGeom>
        </p:spPr>
        <p:txBody>
          <a:bodyPr anchor="t" rtlCol="false" tIns="0" lIns="0" bIns="0" rIns="0">
            <a:spAutoFit/>
          </a:bodyPr>
          <a:lstStyle/>
          <a:p>
            <a:pPr algn="l">
              <a:lnSpc>
                <a:spcPts val="6600"/>
              </a:lnSpc>
            </a:pPr>
            <a:r>
              <a:rPr lang="en-US" sz="6000" b="true">
                <a:solidFill>
                  <a:srgbClr val="02CDFF"/>
                </a:solidFill>
                <a:latin typeface="Barlow Condensed Bold"/>
                <a:ea typeface="Barlow Condensed Bold"/>
                <a:cs typeface="Barlow Condensed Bold"/>
                <a:sym typeface="Barlow Condensed Bold"/>
              </a:rPr>
              <a:t>Heuristic alpha beta tree search</a:t>
            </a:r>
          </a:p>
        </p:txBody>
      </p:sp>
      <p:sp>
        <p:nvSpPr>
          <p:cNvPr name="TextBox 19" id="19"/>
          <p:cNvSpPr txBox="true"/>
          <p:nvPr/>
        </p:nvSpPr>
        <p:spPr>
          <a:xfrm rot="0">
            <a:off x="473588" y="2152650"/>
            <a:ext cx="7528291"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2CDFF"/>
                </a:solidFill>
                <a:latin typeface="Canva Sans Bold"/>
                <a:ea typeface="Canva Sans Bold"/>
                <a:cs typeface="Canva Sans Bold"/>
                <a:sym typeface="Canva Sans Bold"/>
              </a:rPr>
              <a:t>Heuristic Evalua</a:t>
            </a:r>
            <a:r>
              <a:rPr lang="en-US" b="true" sz="3999">
                <a:solidFill>
                  <a:srgbClr val="02CDFF"/>
                </a:solidFill>
                <a:latin typeface="Canva Sans Bold"/>
                <a:ea typeface="Canva Sans Bold"/>
                <a:cs typeface="Canva Sans Bold"/>
                <a:sym typeface="Canva Sans Bold"/>
              </a:rPr>
              <a:t>tion Function</a:t>
            </a:r>
          </a:p>
        </p:txBody>
      </p:sp>
      <p:sp>
        <p:nvSpPr>
          <p:cNvPr name="TextBox 20" id="20"/>
          <p:cNvSpPr txBox="true"/>
          <p:nvPr/>
        </p:nvSpPr>
        <p:spPr>
          <a:xfrm rot="0">
            <a:off x="473588" y="3477260"/>
            <a:ext cx="7528291" cy="222821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Canva Sans Bold"/>
                <a:ea typeface="Canva Sans Bold"/>
                <a:cs typeface="Canva Sans Bold"/>
                <a:sym typeface="Canva Sans Bold"/>
              </a:rPr>
              <a:t>Input:</a:t>
            </a:r>
          </a:p>
          <a:p>
            <a:pPr algn="l">
              <a:lnSpc>
                <a:spcPts val="3219"/>
              </a:lnSpc>
              <a:spcBef>
                <a:spcPct val="0"/>
              </a:spcBef>
            </a:pPr>
            <a:r>
              <a:rPr lang="en-US" sz="2299">
                <a:solidFill>
                  <a:srgbClr val="000000"/>
                </a:solidFill>
                <a:latin typeface="Canva Sans"/>
                <a:ea typeface="Canva Sans"/>
                <a:cs typeface="Canva Sans"/>
                <a:sym typeface="Canva Sans"/>
              </a:rPr>
              <a:t>state: danh sách 9 ô của bàn cờ (gồm 'x', 'o', ' ').</a:t>
            </a:r>
          </a:p>
          <a:p>
            <a:pPr algn="l">
              <a:lnSpc>
                <a:spcPts val="3219"/>
              </a:lnSpc>
              <a:spcBef>
                <a:spcPct val="0"/>
              </a:spcBef>
            </a:pPr>
            <a:r>
              <a:rPr lang="en-US" sz="2299">
                <a:solidFill>
                  <a:srgbClr val="000000"/>
                </a:solidFill>
                <a:latin typeface="Canva Sans"/>
                <a:ea typeface="Canva Sans"/>
                <a:cs typeface="Canva Sans"/>
                <a:sym typeface="Canva Sans"/>
              </a:rPr>
              <a:t>player: người chơi hiện tại ('x' hoặc 'o').</a:t>
            </a:r>
          </a:p>
          <a:p>
            <a:pPr algn="l">
              <a:lnSpc>
                <a:spcPts val="4199"/>
              </a:lnSpc>
              <a:spcBef>
                <a:spcPct val="0"/>
              </a:spcBef>
            </a:pPr>
            <a:r>
              <a:rPr lang="en-US" b="true" sz="2999">
                <a:solidFill>
                  <a:srgbClr val="000000"/>
                </a:solidFill>
                <a:latin typeface="Canva Sans Bold"/>
                <a:ea typeface="Canva Sans Bold"/>
                <a:cs typeface="Canva Sans Bold"/>
                <a:sym typeface="Canva Sans Bold"/>
              </a:rPr>
              <a:t>Output:</a:t>
            </a:r>
          </a:p>
          <a:p>
            <a:pPr algn="l">
              <a:lnSpc>
                <a:spcPts val="3219"/>
              </a:lnSpc>
              <a:spcBef>
                <a:spcPct val="0"/>
              </a:spcBef>
            </a:pPr>
            <a:r>
              <a:rPr lang="en-US" sz="2299">
                <a:solidFill>
                  <a:srgbClr val="000000"/>
                </a:solidFill>
                <a:latin typeface="Canva Sans"/>
                <a:ea typeface="Canva Sans"/>
                <a:cs typeface="Canva Sans"/>
                <a:sym typeface="Canva Sans"/>
              </a:rPr>
              <a:t> → (giá trị heuristic, có phải trạng thái kết thúc?)</a:t>
            </a:r>
          </a:p>
        </p:txBody>
      </p:sp>
      <p:sp>
        <p:nvSpPr>
          <p:cNvPr name="TextBox 21" id="21"/>
          <p:cNvSpPr txBox="true"/>
          <p:nvPr/>
        </p:nvSpPr>
        <p:spPr>
          <a:xfrm rot="0">
            <a:off x="543392" y="6581775"/>
            <a:ext cx="11794115" cy="2901315"/>
          </a:xfrm>
          <a:prstGeom prst="rect">
            <a:avLst/>
          </a:prstGeom>
        </p:spPr>
        <p:txBody>
          <a:bodyPr anchor="t" rtlCol="false" tIns="0" lIns="0" bIns="0" rIns="0">
            <a:spAutoFit/>
          </a:bodyPr>
          <a:lstStyle/>
          <a:p>
            <a:pPr algn="l">
              <a:lnSpc>
                <a:spcPts val="3499"/>
              </a:lnSpc>
              <a:spcBef>
                <a:spcPct val="0"/>
              </a:spcBef>
            </a:pPr>
            <a:r>
              <a:rPr lang="en-US" b="true" sz="2499">
                <a:solidFill>
                  <a:srgbClr val="000000"/>
                </a:solidFill>
                <a:latin typeface="Canva Sans Bold"/>
                <a:ea typeface="Canva Sans Bold"/>
                <a:cs typeface="Canva Sans Bold"/>
                <a:sym typeface="Canva Sans Bold"/>
              </a:rPr>
              <a:t>Nguyên lý tính toán</a:t>
            </a:r>
          </a:p>
          <a:p>
            <a:pPr algn="l">
              <a:lnSpc>
                <a:spcPts val="3499"/>
              </a:lnSpc>
              <a:spcBef>
                <a:spcPct val="0"/>
              </a:spcBef>
            </a:pPr>
            <a:r>
              <a:rPr lang="en-US" b="true" sz="2499">
                <a:solidFill>
                  <a:srgbClr val="000000"/>
                </a:solidFill>
                <a:latin typeface="Canva Sans Bold"/>
                <a:ea typeface="Canva Sans Bold"/>
                <a:cs typeface="Canva Sans Bold"/>
                <a:sym typeface="Canva Sans Bold"/>
              </a:rPr>
              <a:t>Nếu là trạng thái kết thúc (thắng/thua/hòa):</a:t>
            </a:r>
          </a:p>
          <a:p>
            <a:pPr algn="l">
              <a:lnSpc>
                <a:spcPts val="3219"/>
              </a:lnSpc>
              <a:spcBef>
                <a:spcPct val="0"/>
              </a:spcBef>
            </a:pPr>
            <a:r>
              <a:rPr lang="en-US" sz="2299">
                <a:solidFill>
                  <a:srgbClr val="000000"/>
                </a:solidFill>
                <a:latin typeface="Canva Sans"/>
                <a:ea typeface="Canva Sans"/>
                <a:cs typeface="Canva Sans"/>
                <a:sym typeface="Canva Sans"/>
              </a:rPr>
              <a:t> → Trả về điểm tuyệt đối từ hàm utility().</a:t>
            </a:r>
          </a:p>
          <a:p>
            <a:pPr algn="l">
              <a:lnSpc>
                <a:spcPts val="3499"/>
              </a:lnSpc>
              <a:spcBef>
                <a:spcPct val="0"/>
              </a:spcBef>
            </a:pPr>
            <a:r>
              <a:rPr lang="en-US" b="true" sz="2499">
                <a:solidFill>
                  <a:srgbClr val="000000"/>
                </a:solidFill>
                <a:latin typeface="Canva Sans Bold"/>
                <a:ea typeface="Canva Sans Bold"/>
                <a:cs typeface="Canva Sans Bold"/>
                <a:sym typeface="Canva Sans Bold"/>
              </a:rPr>
              <a:t>Nếu chưa kết thúc:</a:t>
            </a:r>
          </a:p>
          <a:p>
            <a:pPr algn="l" marL="496567" indent="-248284" lvl="1">
              <a:lnSpc>
                <a:spcPts val="3219"/>
              </a:lnSpc>
              <a:buFont typeface="Arial"/>
              <a:buChar char="•"/>
            </a:pPr>
            <a:r>
              <a:rPr lang="en-US" sz="2299">
                <a:solidFill>
                  <a:srgbClr val="000000"/>
                </a:solidFill>
                <a:latin typeface="Canva Sans"/>
                <a:ea typeface="Canva Sans"/>
                <a:cs typeface="Canva Sans"/>
                <a:sym typeface="Canva Sans"/>
              </a:rPr>
              <a:t>Đếm số dòng/cột/đường chéo có 2 ký tự cùng người chơi và 1 ô trống → +0.4 điểm</a:t>
            </a:r>
          </a:p>
          <a:p>
            <a:pPr algn="l" marL="496567" indent="-248284" lvl="1">
              <a:lnSpc>
                <a:spcPts val="3219"/>
              </a:lnSpc>
              <a:buFont typeface="Arial"/>
              <a:buChar char="•"/>
            </a:pPr>
            <a:r>
              <a:rPr lang="en-US" sz="2299">
                <a:solidFill>
                  <a:srgbClr val="000000"/>
                </a:solidFill>
                <a:latin typeface="Canva Sans"/>
                <a:ea typeface="Canva Sans"/>
                <a:cs typeface="Canva Sans"/>
                <a:sym typeface="Canva Sans"/>
              </a:rPr>
              <a:t>Ngược lại, nếu đối thủ có cấu hình tương tự → -0.4 điểm</a:t>
            </a:r>
          </a:p>
          <a:p>
            <a:pPr algn="l" marL="496567" indent="-248284" lvl="1">
              <a:lnSpc>
                <a:spcPts val="3219"/>
              </a:lnSpc>
              <a:buFont typeface="Arial"/>
              <a:buChar char="•"/>
            </a:pPr>
            <a:r>
              <a:rPr lang="en-US" sz="2299">
                <a:solidFill>
                  <a:srgbClr val="000000"/>
                </a:solidFill>
                <a:latin typeface="Canva Sans"/>
                <a:ea typeface="Canva Sans"/>
                <a:cs typeface="Canva Sans"/>
                <a:sym typeface="Canva Sans"/>
              </a:rPr>
              <a:t>Tổng điểm nằm trong khoảng [-1, 1].</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259300" y="9258300"/>
            <a:ext cx="1028700" cy="1028700"/>
            <a:chOff x="0" y="0"/>
            <a:chExt cx="270933" cy="270933"/>
          </a:xfrm>
        </p:grpSpPr>
        <p:sp>
          <p:nvSpPr>
            <p:cNvPr name="Freeform 10" id="10"/>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1" id="11"/>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73588" y="3117850"/>
            <a:ext cx="4962810" cy="4409630"/>
          </a:xfrm>
          <a:custGeom>
            <a:avLst/>
            <a:gdLst/>
            <a:ahLst/>
            <a:cxnLst/>
            <a:rect r="r" b="b" t="t" l="l"/>
            <a:pathLst>
              <a:path h="4409630" w="4962810">
                <a:moveTo>
                  <a:pt x="0" y="0"/>
                </a:moveTo>
                <a:lnTo>
                  <a:pt x="4962809" y="0"/>
                </a:lnTo>
                <a:lnTo>
                  <a:pt x="4962809" y="4409630"/>
                </a:lnTo>
                <a:lnTo>
                  <a:pt x="0" y="4409630"/>
                </a:lnTo>
                <a:lnTo>
                  <a:pt x="0" y="0"/>
                </a:lnTo>
                <a:close/>
              </a:path>
            </a:pathLst>
          </a:custGeom>
          <a:blipFill>
            <a:blip r:embed="rId4"/>
            <a:stretch>
              <a:fillRect l="0" t="0" r="0" b="0"/>
            </a:stretch>
          </a:blipFill>
        </p:spPr>
      </p:sp>
      <p:sp>
        <p:nvSpPr>
          <p:cNvPr name="Freeform 13" id="13"/>
          <p:cNvSpPr/>
          <p:nvPr/>
        </p:nvSpPr>
        <p:spPr>
          <a:xfrm flipH="false" flipV="false" rot="0">
            <a:off x="10555317" y="3117850"/>
            <a:ext cx="4604173" cy="4409630"/>
          </a:xfrm>
          <a:custGeom>
            <a:avLst/>
            <a:gdLst/>
            <a:ahLst/>
            <a:cxnLst/>
            <a:rect r="r" b="b" t="t" l="l"/>
            <a:pathLst>
              <a:path h="4409630" w="4604173">
                <a:moveTo>
                  <a:pt x="0" y="0"/>
                </a:moveTo>
                <a:lnTo>
                  <a:pt x="4604173" y="0"/>
                </a:lnTo>
                <a:lnTo>
                  <a:pt x="4604173" y="4409630"/>
                </a:lnTo>
                <a:lnTo>
                  <a:pt x="0" y="4409630"/>
                </a:lnTo>
                <a:lnTo>
                  <a:pt x="0" y="0"/>
                </a:lnTo>
                <a:close/>
              </a:path>
            </a:pathLst>
          </a:custGeom>
          <a:blipFill>
            <a:blip r:embed="rId5"/>
            <a:stretch>
              <a:fillRect l="0" t="0" r="0" b="0"/>
            </a:stretch>
          </a:blipFill>
        </p:spPr>
      </p:sp>
      <p:sp>
        <p:nvSpPr>
          <p:cNvPr name="TextBox 14" id="14"/>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5" id="15"/>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6" id="16"/>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7" id="17"/>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8" id="18"/>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19" id="19"/>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sp>
        <p:nvSpPr>
          <p:cNvPr name="TextBox 20" id="20"/>
          <p:cNvSpPr txBox="true"/>
          <p:nvPr/>
        </p:nvSpPr>
        <p:spPr>
          <a:xfrm rot="0">
            <a:off x="473588" y="1066800"/>
            <a:ext cx="9403223" cy="876300"/>
          </a:xfrm>
          <a:prstGeom prst="rect">
            <a:avLst/>
          </a:prstGeom>
        </p:spPr>
        <p:txBody>
          <a:bodyPr anchor="t" rtlCol="false" tIns="0" lIns="0" bIns="0" rIns="0">
            <a:spAutoFit/>
          </a:bodyPr>
          <a:lstStyle/>
          <a:p>
            <a:pPr algn="l">
              <a:lnSpc>
                <a:spcPts val="6600"/>
              </a:lnSpc>
            </a:pPr>
            <a:r>
              <a:rPr lang="en-US" sz="6000" b="true">
                <a:solidFill>
                  <a:srgbClr val="02CDFF"/>
                </a:solidFill>
                <a:latin typeface="Barlow Condensed Bold"/>
                <a:ea typeface="Barlow Condensed Bold"/>
                <a:cs typeface="Barlow Condensed Bold"/>
                <a:sym typeface="Barlow Condensed Bold"/>
              </a:rPr>
              <a:t>Heuristic alpha beta tree search</a:t>
            </a:r>
          </a:p>
        </p:txBody>
      </p:sp>
      <p:sp>
        <p:nvSpPr>
          <p:cNvPr name="TextBox 21" id="21"/>
          <p:cNvSpPr txBox="true"/>
          <p:nvPr/>
        </p:nvSpPr>
        <p:spPr>
          <a:xfrm rot="0">
            <a:off x="473588" y="2152650"/>
            <a:ext cx="7528291"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2CDFF"/>
                </a:solidFill>
                <a:latin typeface="Canva Sans Bold"/>
                <a:ea typeface="Canva Sans Bold"/>
                <a:cs typeface="Canva Sans Bold"/>
                <a:sym typeface="Canva Sans Bold"/>
              </a:rPr>
              <a:t>Heuristic Evalua</a:t>
            </a:r>
            <a:r>
              <a:rPr lang="en-US" b="true" sz="3999">
                <a:solidFill>
                  <a:srgbClr val="02CDFF"/>
                </a:solidFill>
                <a:latin typeface="Canva Sans Bold"/>
                <a:ea typeface="Canva Sans Bold"/>
                <a:cs typeface="Canva Sans Bold"/>
                <a:sym typeface="Canva Sans Bold"/>
              </a:rPr>
              <a:t>tion Function</a:t>
            </a:r>
          </a:p>
        </p:txBody>
      </p:sp>
      <p:sp>
        <p:nvSpPr>
          <p:cNvPr name="TextBox 22" id="22"/>
          <p:cNvSpPr txBox="true"/>
          <p:nvPr/>
        </p:nvSpPr>
        <p:spPr>
          <a:xfrm rot="0">
            <a:off x="473588" y="7775130"/>
            <a:ext cx="8670412" cy="1323340"/>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Canva Sans"/>
                <a:ea typeface="Canva Sans"/>
                <a:cs typeface="Canva Sans"/>
                <a:sym typeface="Canva Sans"/>
              </a:rPr>
              <a:t>l Không ai thắng, không có hàng nào “2 cùng loại + 1 trống”.</a:t>
            </a:r>
          </a:p>
          <a:p>
            <a:pPr algn="l">
              <a:lnSpc>
                <a:spcPts val="2659"/>
              </a:lnSpc>
              <a:spcBef>
                <a:spcPct val="0"/>
              </a:spcBef>
            </a:pPr>
            <a:r>
              <a:rPr lang="en-US" sz="1899">
                <a:solidFill>
                  <a:srgbClr val="000000"/>
                </a:solidFill>
                <a:latin typeface="Canva Sans"/>
                <a:ea typeface="Canva Sans"/>
                <a:cs typeface="Canva Sans"/>
                <a:sym typeface="Canva Sans"/>
              </a:rPr>
              <a:t>l → utility = None → dùng heuristic.</a:t>
            </a:r>
          </a:p>
          <a:p>
            <a:pPr algn="l">
              <a:lnSpc>
                <a:spcPts val="2659"/>
              </a:lnSpc>
              <a:spcBef>
                <a:spcPct val="0"/>
              </a:spcBef>
            </a:pPr>
            <a:r>
              <a:rPr lang="en-US" sz="1899">
                <a:solidFill>
                  <a:srgbClr val="000000"/>
                </a:solidFill>
                <a:latin typeface="Canva Sans"/>
                <a:ea typeface="Canva Sans"/>
                <a:cs typeface="Canva Sans"/>
                <a:sym typeface="Canva Sans"/>
              </a:rPr>
              <a:t>l score = 0.</a:t>
            </a:r>
          </a:p>
          <a:p>
            <a:pPr algn="l">
              <a:lnSpc>
                <a:spcPts val="2659"/>
              </a:lnSpc>
              <a:spcBef>
                <a:spcPct val="0"/>
              </a:spcBef>
            </a:pPr>
            <a:r>
              <a:rPr lang="en-US" sz="1899">
                <a:solidFill>
                  <a:srgbClr val="000000"/>
                </a:solidFill>
                <a:latin typeface="Canva Sans"/>
                <a:ea typeface="Canva Sans"/>
                <a:cs typeface="Canva Sans"/>
                <a:sym typeface="Canva Sans"/>
              </a:rPr>
              <a:t>⟹ Cả hai người đều có “điểm tiềm năng” bằng 0 (trạng thái trung lập).</a:t>
            </a:r>
          </a:p>
        </p:txBody>
      </p:sp>
      <p:sp>
        <p:nvSpPr>
          <p:cNvPr name="TextBox 23" id="23"/>
          <p:cNvSpPr txBox="true"/>
          <p:nvPr/>
        </p:nvSpPr>
        <p:spPr>
          <a:xfrm rot="0">
            <a:off x="10555317" y="7775130"/>
            <a:ext cx="6526711" cy="1656715"/>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Canva Sans"/>
                <a:ea typeface="Canva Sans"/>
                <a:cs typeface="Canva Sans"/>
                <a:sym typeface="Canva Sans"/>
              </a:rPr>
              <a:t>l utility(state, 'x') = +1</a:t>
            </a:r>
          </a:p>
          <a:p>
            <a:pPr algn="l">
              <a:lnSpc>
                <a:spcPts val="2659"/>
              </a:lnSpc>
              <a:spcBef>
                <a:spcPct val="0"/>
              </a:spcBef>
            </a:pPr>
            <a:r>
              <a:rPr lang="en-US" sz="1899">
                <a:solidFill>
                  <a:srgbClr val="000000"/>
                </a:solidFill>
                <a:latin typeface="Canva Sans"/>
                <a:ea typeface="Canva Sans"/>
                <a:cs typeface="Canva Sans"/>
                <a:sym typeface="Canva Sans"/>
              </a:rPr>
              <a:t>l utility(state, 'o') = -1</a:t>
            </a:r>
          </a:p>
          <a:p>
            <a:pPr algn="l">
              <a:lnSpc>
                <a:spcPts val="2659"/>
              </a:lnSpc>
              <a:spcBef>
                <a:spcPct val="0"/>
              </a:spcBef>
            </a:pPr>
            <a:r>
              <a:rPr lang="en-US" sz="1899">
                <a:solidFill>
                  <a:srgbClr val="000000"/>
                </a:solidFill>
                <a:latin typeface="Canva Sans"/>
                <a:ea typeface="Canva Sans"/>
                <a:cs typeface="Canva Sans"/>
                <a:sym typeface="Canva Sans"/>
              </a:rPr>
              <a:t>⟹  Ván đã kết thúc → trả về giá trị thật (utility), không dùng heuristic.</a:t>
            </a:r>
          </a:p>
          <a:p>
            <a:pPr algn="l">
              <a:lnSpc>
                <a:spcPts val="265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259300" y="9258300"/>
            <a:ext cx="1028700" cy="1028700"/>
            <a:chOff x="0" y="0"/>
            <a:chExt cx="270933" cy="270933"/>
          </a:xfrm>
        </p:grpSpPr>
        <p:sp>
          <p:nvSpPr>
            <p:cNvPr name="Freeform 10" id="10"/>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1" id="11"/>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658230" y="3117850"/>
            <a:ext cx="5025682" cy="4409630"/>
          </a:xfrm>
          <a:custGeom>
            <a:avLst/>
            <a:gdLst/>
            <a:ahLst/>
            <a:cxnLst/>
            <a:rect r="r" b="b" t="t" l="l"/>
            <a:pathLst>
              <a:path h="4409630" w="5025682">
                <a:moveTo>
                  <a:pt x="0" y="0"/>
                </a:moveTo>
                <a:lnTo>
                  <a:pt x="5025682" y="0"/>
                </a:lnTo>
                <a:lnTo>
                  <a:pt x="5025682" y="4409630"/>
                </a:lnTo>
                <a:lnTo>
                  <a:pt x="0" y="4409630"/>
                </a:lnTo>
                <a:lnTo>
                  <a:pt x="0" y="0"/>
                </a:lnTo>
                <a:close/>
              </a:path>
            </a:pathLst>
          </a:custGeom>
          <a:blipFill>
            <a:blip r:embed="rId4"/>
            <a:stretch>
              <a:fillRect l="0" t="0" r="0" b="0"/>
            </a:stretch>
          </a:blipFill>
        </p:spPr>
      </p:sp>
      <p:sp>
        <p:nvSpPr>
          <p:cNvPr name="Freeform 13" id="13"/>
          <p:cNvSpPr/>
          <p:nvPr/>
        </p:nvSpPr>
        <p:spPr>
          <a:xfrm flipH="false" flipV="false" rot="0">
            <a:off x="10266889" y="3117850"/>
            <a:ext cx="4816192" cy="4409630"/>
          </a:xfrm>
          <a:custGeom>
            <a:avLst/>
            <a:gdLst/>
            <a:ahLst/>
            <a:cxnLst/>
            <a:rect r="r" b="b" t="t" l="l"/>
            <a:pathLst>
              <a:path h="4409630" w="4816192">
                <a:moveTo>
                  <a:pt x="0" y="0"/>
                </a:moveTo>
                <a:lnTo>
                  <a:pt x="4816192" y="0"/>
                </a:lnTo>
                <a:lnTo>
                  <a:pt x="4816192" y="4409630"/>
                </a:lnTo>
                <a:lnTo>
                  <a:pt x="0" y="4409630"/>
                </a:lnTo>
                <a:lnTo>
                  <a:pt x="0" y="0"/>
                </a:lnTo>
                <a:close/>
              </a:path>
            </a:pathLst>
          </a:custGeom>
          <a:blipFill>
            <a:blip r:embed="rId5"/>
            <a:stretch>
              <a:fillRect l="0" t="0" r="0" b="0"/>
            </a:stretch>
          </a:blipFill>
        </p:spPr>
      </p:sp>
      <p:sp>
        <p:nvSpPr>
          <p:cNvPr name="TextBox 14" id="14"/>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5" id="15"/>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6" id="16"/>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7" id="17"/>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8" id="18"/>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19" id="19"/>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sp>
        <p:nvSpPr>
          <p:cNvPr name="TextBox 20" id="20"/>
          <p:cNvSpPr txBox="true"/>
          <p:nvPr/>
        </p:nvSpPr>
        <p:spPr>
          <a:xfrm rot="0">
            <a:off x="473588" y="1066800"/>
            <a:ext cx="9403223" cy="876300"/>
          </a:xfrm>
          <a:prstGeom prst="rect">
            <a:avLst/>
          </a:prstGeom>
        </p:spPr>
        <p:txBody>
          <a:bodyPr anchor="t" rtlCol="false" tIns="0" lIns="0" bIns="0" rIns="0">
            <a:spAutoFit/>
          </a:bodyPr>
          <a:lstStyle/>
          <a:p>
            <a:pPr algn="l">
              <a:lnSpc>
                <a:spcPts val="6600"/>
              </a:lnSpc>
            </a:pPr>
            <a:r>
              <a:rPr lang="en-US" sz="6000" b="true">
                <a:solidFill>
                  <a:srgbClr val="02CDFF"/>
                </a:solidFill>
                <a:latin typeface="Barlow Condensed Bold"/>
                <a:ea typeface="Barlow Condensed Bold"/>
                <a:cs typeface="Barlow Condensed Bold"/>
                <a:sym typeface="Barlow Condensed Bold"/>
              </a:rPr>
              <a:t>Heuristic alpha beta tree search</a:t>
            </a:r>
          </a:p>
        </p:txBody>
      </p:sp>
      <p:sp>
        <p:nvSpPr>
          <p:cNvPr name="TextBox 21" id="21"/>
          <p:cNvSpPr txBox="true"/>
          <p:nvPr/>
        </p:nvSpPr>
        <p:spPr>
          <a:xfrm rot="0">
            <a:off x="473588" y="2152650"/>
            <a:ext cx="7528291"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2CDFF"/>
                </a:solidFill>
                <a:latin typeface="Canva Sans Bold"/>
                <a:ea typeface="Canva Sans Bold"/>
                <a:cs typeface="Canva Sans Bold"/>
                <a:sym typeface="Canva Sans Bold"/>
              </a:rPr>
              <a:t>Heuristic Evalua</a:t>
            </a:r>
            <a:r>
              <a:rPr lang="en-US" b="true" sz="3999">
                <a:solidFill>
                  <a:srgbClr val="02CDFF"/>
                </a:solidFill>
                <a:latin typeface="Canva Sans Bold"/>
                <a:ea typeface="Canva Sans Bold"/>
                <a:cs typeface="Canva Sans Bold"/>
                <a:sym typeface="Canva Sans Bold"/>
              </a:rPr>
              <a:t>tion Function</a:t>
            </a:r>
          </a:p>
        </p:txBody>
      </p:sp>
      <p:sp>
        <p:nvSpPr>
          <p:cNvPr name="TextBox 22" id="22"/>
          <p:cNvSpPr txBox="true"/>
          <p:nvPr/>
        </p:nvSpPr>
        <p:spPr>
          <a:xfrm rot="0">
            <a:off x="658230" y="7630160"/>
            <a:ext cx="7343648" cy="2656840"/>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Canva Sans"/>
                <a:ea typeface="Canva Sans"/>
                <a:cs typeface="Canva Sans"/>
                <a:sym typeface="Canva Sans"/>
              </a:rPr>
              <a:t>l Không ai thắng (utility = None)</a:t>
            </a:r>
          </a:p>
          <a:p>
            <a:pPr algn="l">
              <a:lnSpc>
                <a:spcPts val="2659"/>
              </a:lnSpc>
              <a:spcBef>
                <a:spcPct val="0"/>
              </a:spcBef>
            </a:pPr>
            <a:r>
              <a:rPr lang="en-US" sz="1899">
                <a:solidFill>
                  <a:srgbClr val="000000"/>
                </a:solidFill>
                <a:latin typeface="Canva Sans"/>
                <a:ea typeface="Canva Sans"/>
                <a:cs typeface="Canva Sans"/>
                <a:sym typeface="Canva Sans"/>
              </a:rPr>
              <a:t>l Heuristic tính:</a:t>
            </a:r>
          </a:p>
          <a:p>
            <a:pPr algn="l">
              <a:lnSpc>
                <a:spcPts val="2659"/>
              </a:lnSpc>
              <a:spcBef>
                <a:spcPct val="0"/>
              </a:spcBef>
            </a:pPr>
            <a:r>
              <a:rPr lang="en-US" sz="1899">
                <a:solidFill>
                  <a:srgbClr val="000000"/>
                </a:solidFill>
                <a:latin typeface="Canva Sans"/>
                <a:ea typeface="Canva Sans"/>
                <a:cs typeface="Canva Sans"/>
                <a:sym typeface="Canva Sans"/>
              </a:rPr>
              <a:t>n Hàng 0: X có 2 + 1 trống → +0.4</a:t>
            </a:r>
          </a:p>
          <a:p>
            <a:pPr algn="l">
              <a:lnSpc>
                <a:spcPts val="2659"/>
              </a:lnSpc>
              <a:spcBef>
                <a:spcPct val="0"/>
              </a:spcBef>
            </a:pPr>
            <a:r>
              <a:rPr lang="en-US" sz="1899">
                <a:solidFill>
                  <a:srgbClr val="000000"/>
                </a:solidFill>
                <a:latin typeface="Canva Sans"/>
                <a:ea typeface="Canva Sans"/>
                <a:cs typeface="Canva Sans"/>
                <a:sym typeface="Canva Sans"/>
              </a:rPr>
              <a:t>n Không hàng/chéo nào khác phù hợp.</a:t>
            </a:r>
          </a:p>
          <a:p>
            <a:pPr algn="l">
              <a:lnSpc>
                <a:spcPts val="2659"/>
              </a:lnSpc>
              <a:spcBef>
                <a:spcPct val="0"/>
              </a:spcBef>
            </a:pPr>
            <a:r>
              <a:rPr lang="en-US" sz="1899">
                <a:solidFill>
                  <a:srgbClr val="000000"/>
                </a:solidFill>
                <a:latin typeface="Canva Sans"/>
                <a:ea typeface="Canva Sans"/>
                <a:cs typeface="Canva Sans"/>
                <a:sym typeface="Canva Sans"/>
              </a:rPr>
              <a:t>n O không có 2 + 1 trống.</a:t>
            </a:r>
          </a:p>
          <a:p>
            <a:pPr algn="l">
              <a:lnSpc>
                <a:spcPts val="2659"/>
              </a:lnSpc>
              <a:spcBef>
                <a:spcPct val="0"/>
              </a:spcBef>
            </a:pPr>
            <a:r>
              <a:rPr lang="en-US" sz="1899">
                <a:solidFill>
                  <a:srgbClr val="000000"/>
                </a:solidFill>
                <a:latin typeface="Canva Sans"/>
                <a:ea typeface="Canva Sans"/>
                <a:cs typeface="Canva Sans"/>
                <a:sym typeface="Canva Sans"/>
              </a:rPr>
              <a:t>l Tổng: score = +0.4 cho X</a:t>
            </a:r>
          </a:p>
          <a:p>
            <a:pPr algn="l">
              <a:lnSpc>
                <a:spcPts val="2659"/>
              </a:lnSpc>
              <a:spcBef>
                <a:spcPct val="0"/>
              </a:spcBef>
            </a:pPr>
            <a:r>
              <a:rPr lang="en-US" sz="1899">
                <a:solidFill>
                  <a:srgbClr val="000000"/>
                </a:solidFill>
                <a:latin typeface="Canva Sans"/>
                <a:ea typeface="Canva Sans"/>
                <a:cs typeface="Canva Sans"/>
                <a:sym typeface="Canva Sans"/>
              </a:rPr>
              <a:t>→ score = -0.4 cho O (vì nguy cơ bị thua cao hơn)</a:t>
            </a:r>
          </a:p>
          <a:p>
            <a:pPr algn="l">
              <a:lnSpc>
                <a:spcPts val="2659"/>
              </a:lnSpc>
              <a:spcBef>
                <a:spcPct val="0"/>
              </a:spcBef>
            </a:pPr>
            <a:r>
              <a:rPr lang="en-US" sz="1899">
                <a:solidFill>
                  <a:srgbClr val="000000"/>
                </a:solidFill>
                <a:latin typeface="Canva Sans"/>
                <a:ea typeface="Canva Sans"/>
                <a:cs typeface="Canva Sans"/>
                <a:sym typeface="Canva Sans"/>
              </a:rPr>
              <a:t>⟹ X có lợi thế nhỏ (gần thắng 1 hàng).</a:t>
            </a:r>
          </a:p>
        </p:txBody>
      </p:sp>
      <p:sp>
        <p:nvSpPr>
          <p:cNvPr name="TextBox 23" id="23"/>
          <p:cNvSpPr txBox="true"/>
          <p:nvPr/>
        </p:nvSpPr>
        <p:spPr>
          <a:xfrm rot="0">
            <a:off x="10266889" y="7878858"/>
            <a:ext cx="6163184" cy="1323340"/>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Canva Sans"/>
                <a:ea typeface="Canva Sans"/>
                <a:cs typeface="Canva Sans"/>
                <a:sym typeface="Canva Sans"/>
              </a:rPr>
              <a:t>X: chưa có hàng/chéo nào 2 + 1 trống → 0 điểm.</a:t>
            </a:r>
          </a:p>
          <a:p>
            <a:pPr algn="l">
              <a:lnSpc>
                <a:spcPts val="2659"/>
              </a:lnSpc>
              <a:spcBef>
                <a:spcPct val="0"/>
              </a:spcBef>
            </a:pPr>
            <a:r>
              <a:rPr lang="en-US" sz="1899">
                <a:solidFill>
                  <a:srgbClr val="000000"/>
                </a:solidFill>
                <a:latin typeface="Canva Sans"/>
                <a:ea typeface="Canva Sans"/>
                <a:cs typeface="Canva Sans"/>
                <a:sym typeface="Canva Sans"/>
              </a:rPr>
              <a:t>O: cột giữa có 2 + 1 trống (ô (2,1) trống) → -0.4 cho X, +0.4 cho O.</a:t>
            </a:r>
          </a:p>
          <a:p>
            <a:pPr algn="l">
              <a:lnSpc>
                <a:spcPts val="2659"/>
              </a:lnSpc>
              <a:spcBef>
                <a:spcPct val="0"/>
              </a:spcBef>
            </a:pPr>
            <a:r>
              <a:rPr lang="en-US" sz="1899">
                <a:solidFill>
                  <a:srgbClr val="000000"/>
                </a:solidFill>
                <a:latin typeface="Canva Sans"/>
                <a:ea typeface="Canva Sans"/>
                <a:cs typeface="Canva Sans"/>
                <a:sym typeface="Canva Sans"/>
              </a:rPr>
              <a:t>⟹ O có lợi thế (có cơ hội tạo 3 hàng dọc giữa).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259300" y="9258300"/>
            <a:ext cx="1028700" cy="1028700"/>
            <a:chOff x="0" y="0"/>
            <a:chExt cx="270933" cy="270933"/>
          </a:xfrm>
        </p:grpSpPr>
        <p:sp>
          <p:nvSpPr>
            <p:cNvPr name="Freeform 10" id="10"/>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1" id="11"/>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3" id="13"/>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4" id="14"/>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5" id="15"/>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6" id="16"/>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sp>
        <p:nvSpPr>
          <p:cNvPr name="TextBox 18" id="18"/>
          <p:cNvSpPr txBox="true"/>
          <p:nvPr/>
        </p:nvSpPr>
        <p:spPr>
          <a:xfrm rot="0">
            <a:off x="473588" y="1066800"/>
            <a:ext cx="10910116" cy="876300"/>
          </a:xfrm>
          <a:prstGeom prst="rect">
            <a:avLst/>
          </a:prstGeom>
        </p:spPr>
        <p:txBody>
          <a:bodyPr anchor="t" rtlCol="false" tIns="0" lIns="0" bIns="0" rIns="0">
            <a:spAutoFit/>
          </a:bodyPr>
          <a:lstStyle/>
          <a:p>
            <a:pPr algn="l">
              <a:lnSpc>
                <a:spcPts val="6600"/>
              </a:lnSpc>
            </a:pPr>
            <a:r>
              <a:rPr lang="en-US" sz="6000" b="true">
                <a:solidFill>
                  <a:srgbClr val="02CDFF"/>
                </a:solidFill>
                <a:latin typeface="Barlow Condensed Bold"/>
                <a:ea typeface="Barlow Condensed Bold"/>
                <a:cs typeface="Barlow Condensed Bold"/>
                <a:sym typeface="Barlow Condensed Bold"/>
              </a:rPr>
              <a:t>Adversarial Search: Playing Connect 4</a:t>
            </a:r>
          </a:p>
        </p:txBody>
      </p:sp>
      <p:sp>
        <p:nvSpPr>
          <p:cNvPr name="TextBox 19" id="19"/>
          <p:cNvSpPr txBox="true"/>
          <p:nvPr/>
        </p:nvSpPr>
        <p:spPr>
          <a:xfrm rot="0">
            <a:off x="473588" y="2703912"/>
            <a:ext cx="8833788"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Canva Sans Bold"/>
                <a:ea typeface="Canva Sans Bold"/>
                <a:cs typeface="Canva Sans Bold"/>
                <a:sym typeface="Canva Sans Bold"/>
              </a:rPr>
              <a:t>Task 1: Defining the Search Problem</a:t>
            </a:r>
          </a:p>
        </p:txBody>
      </p:sp>
      <p:sp>
        <p:nvSpPr>
          <p:cNvPr name="TextBox 20" id="20"/>
          <p:cNvSpPr txBox="true"/>
          <p:nvPr/>
        </p:nvSpPr>
        <p:spPr>
          <a:xfrm rot="0">
            <a:off x="473588" y="4575175"/>
            <a:ext cx="16893887" cy="3181350"/>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Canva Sans"/>
                <a:ea typeface="Canva Sans"/>
                <a:cs typeface="Canva Sans"/>
                <a:sym typeface="Canva Sans"/>
              </a:rPr>
              <a:t>Bài toán tìm kiếm đối kháng (adversarial search) cho trò Connect 4, bao gồm các thành phần:</a:t>
            </a:r>
          </a:p>
          <a:p>
            <a:pPr algn="l">
              <a:lnSpc>
                <a:spcPts val="4200"/>
              </a:lnSpc>
              <a:spcBef>
                <a:spcPct val="0"/>
              </a:spcBef>
            </a:pPr>
            <a:r>
              <a:rPr lang="en-US" sz="3000">
                <a:solidFill>
                  <a:srgbClr val="000000"/>
                </a:solidFill>
                <a:latin typeface="Canva Sans"/>
                <a:ea typeface="Canva Sans"/>
                <a:cs typeface="Canva Sans"/>
                <a:sym typeface="Canva Sans"/>
              </a:rPr>
              <a:t>l </a:t>
            </a:r>
            <a:r>
              <a:rPr lang="en-US" b="true" sz="3000">
                <a:solidFill>
                  <a:srgbClr val="000000"/>
                </a:solidFill>
                <a:latin typeface="Canva Sans Bold"/>
                <a:ea typeface="Canva Sans Bold"/>
                <a:cs typeface="Canva Sans Bold"/>
                <a:sym typeface="Canva Sans Bold"/>
              </a:rPr>
              <a:t>Trạng thái ban đầu (initial state)</a:t>
            </a:r>
            <a:r>
              <a:rPr lang="en-US" sz="3000">
                <a:solidFill>
                  <a:srgbClr val="000000"/>
                </a:solidFill>
                <a:latin typeface="Canva Sans"/>
                <a:ea typeface="Canva Sans"/>
                <a:cs typeface="Canva Sans"/>
                <a:sym typeface="Canva Sans"/>
              </a:rPr>
              <a:t> – bàn cờ trống, người chơi 1 bắt đầu.</a:t>
            </a:r>
          </a:p>
          <a:p>
            <a:pPr algn="l">
              <a:lnSpc>
                <a:spcPts val="4200"/>
              </a:lnSpc>
              <a:spcBef>
                <a:spcPct val="0"/>
              </a:spcBef>
            </a:pPr>
            <a:r>
              <a:rPr lang="en-US" sz="3000">
                <a:solidFill>
                  <a:srgbClr val="000000"/>
                </a:solidFill>
                <a:latin typeface="Canva Sans"/>
                <a:ea typeface="Canva Sans"/>
                <a:cs typeface="Canva Sans"/>
                <a:sym typeface="Canva Sans"/>
              </a:rPr>
              <a:t>l </a:t>
            </a:r>
            <a:r>
              <a:rPr lang="en-US" b="true" sz="3000">
                <a:solidFill>
                  <a:srgbClr val="000000"/>
                </a:solidFill>
                <a:latin typeface="Canva Sans Bold"/>
                <a:ea typeface="Canva Sans Bold"/>
                <a:cs typeface="Canva Sans Bold"/>
                <a:sym typeface="Canva Sans Bold"/>
              </a:rPr>
              <a:t>Tập hành động (actions)</a:t>
            </a:r>
            <a:r>
              <a:rPr lang="en-US" sz="3000">
                <a:solidFill>
                  <a:srgbClr val="000000"/>
                </a:solidFill>
                <a:latin typeface="Canva Sans"/>
                <a:ea typeface="Canva Sans"/>
                <a:cs typeface="Canva Sans"/>
                <a:sym typeface="Canva Sans"/>
              </a:rPr>
              <a:t> – các cột còn trống để thả quân.</a:t>
            </a:r>
          </a:p>
          <a:p>
            <a:pPr algn="l">
              <a:lnSpc>
                <a:spcPts val="4200"/>
              </a:lnSpc>
              <a:spcBef>
                <a:spcPct val="0"/>
              </a:spcBef>
            </a:pPr>
            <a:r>
              <a:rPr lang="en-US" sz="3000">
                <a:solidFill>
                  <a:srgbClr val="000000"/>
                </a:solidFill>
                <a:latin typeface="Canva Sans"/>
                <a:ea typeface="Canva Sans"/>
                <a:cs typeface="Canva Sans"/>
                <a:sym typeface="Canva Sans"/>
              </a:rPr>
              <a:t>l </a:t>
            </a:r>
            <a:r>
              <a:rPr lang="en-US" b="true" sz="3000">
                <a:solidFill>
                  <a:srgbClr val="000000"/>
                </a:solidFill>
                <a:latin typeface="Canva Sans Bold"/>
                <a:ea typeface="Canva Sans Bold"/>
                <a:cs typeface="Canva Sans Bold"/>
                <a:sym typeface="Canva Sans Bold"/>
              </a:rPr>
              <a:t>Hàm chuyển trạng thái (transition model)</a:t>
            </a:r>
            <a:r>
              <a:rPr lang="en-US" sz="3000">
                <a:solidFill>
                  <a:srgbClr val="000000"/>
                </a:solidFill>
                <a:latin typeface="Canva Sans"/>
                <a:ea typeface="Canva Sans"/>
                <a:cs typeface="Canva Sans"/>
                <a:sym typeface="Canva Sans"/>
              </a:rPr>
              <a:t> – mô tả việc thả quân và đổi lượt chơi.</a:t>
            </a:r>
          </a:p>
          <a:p>
            <a:pPr algn="l">
              <a:lnSpc>
                <a:spcPts val="4200"/>
              </a:lnSpc>
              <a:spcBef>
                <a:spcPct val="0"/>
              </a:spcBef>
            </a:pPr>
            <a:r>
              <a:rPr lang="en-US" sz="3000">
                <a:solidFill>
                  <a:srgbClr val="000000"/>
                </a:solidFill>
                <a:latin typeface="Canva Sans"/>
                <a:ea typeface="Canva Sans"/>
                <a:cs typeface="Canva Sans"/>
                <a:sym typeface="Canva Sans"/>
              </a:rPr>
              <a:t>l </a:t>
            </a:r>
            <a:r>
              <a:rPr lang="en-US" b="true" sz="3000">
                <a:solidFill>
                  <a:srgbClr val="000000"/>
                </a:solidFill>
                <a:latin typeface="Canva Sans Bold"/>
                <a:ea typeface="Canva Sans Bold"/>
                <a:cs typeface="Canva Sans Bold"/>
                <a:sym typeface="Canva Sans Bold"/>
              </a:rPr>
              <a:t>Trạng thái kết thúc (goal state) </a:t>
            </a:r>
            <a:r>
              <a:rPr lang="en-US" sz="3000">
                <a:solidFill>
                  <a:srgbClr val="000000"/>
                </a:solidFill>
                <a:latin typeface="Canva Sans"/>
                <a:ea typeface="Canva Sans"/>
                <a:cs typeface="Canva Sans"/>
                <a:sym typeface="Canva Sans"/>
              </a:rPr>
              <a:t>– khi có người thắng hoặc bàn cờ đầy.</a:t>
            </a:r>
          </a:p>
          <a:p>
            <a:pPr algn="l">
              <a:lnSpc>
                <a:spcPts val="4200"/>
              </a:lnSpc>
              <a:spcBef>
                <a:spcPct val="0"/>
              </a:spcBef>
            </a:pPr>
            <a:r>
              <a:rPr lang="en-US" sz="3000">
                <a:solidFill>
                  <a:srgbClr val="000000"/>
                </a:solidFill>
                <a:latin typeface="Canva Sans"/>
                <a:ea typeface="Canva Sans"/>
                <a:cs typeface="Canva Sans"/>
                <a:sym typeface="Canva Sans"/>
              </a:rPr>
              <a:t>l </a:t>
            </a:r>
            <a:r>
              <a:rPr lang="en-US" b="true" sz="3000">
                <a:solidFill>
                  <a:srgbClr val="000000"/>
                </a:solidFill>
                <a:latin typeface="Canva Sans Bold"/>
                <a:ea typeface="Canva Sans Bold"/>
                <a:cs typeface="Canva Sans Bold"/>
                <a:sym typeface="Canva Sans Bold"/>
              </a:rPr>
              <a:t>Hàm tiện ích (utility)</a:t>
            </a:r>
            <a:r>
              <a:rPr lang="en-US" sz="3000">
                <a:solidFill>
                  <a:srgbClr val="000000"/>
                </a:solidFill>
                <a:latin typeface="Canva Sans"/>
                <a:ea typeface="Canva Sans"/>
                <a:cs typeface="Canva Sans"/>
                <a:sym typeface="Canva Sans"/>
              </a:rPr>
              <a:t> – xác định giá trị thắng (+1), thua (–1) hoặc hòa (0).</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259300" y="9258300"/>
            <a:ext cx="1028700" cy="1028700"/>
            <a:chOff x="0" y="0"/>
            <a:chExt cx="270933" cy="270933"/>
          </a:xfrm>
        </p:grpSpPr>
        <p:sp>
          <p:nvSpPr>
            <p:cNvPr name="Freeform 10" id="10"/>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1" id="11"/>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3" id="13"/>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4" id="14"/>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5" id="15"/>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6" id="16"/>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sp>
        <p:nvSpPr>
          <p:cNvPr name="TextBox 18" id="18"/>
          <p:cNvSpPr txBox="true"/>
          <p:nvPr/>
        </p:nvSpPr>
        <p:spPr>
          <a:xfrm rot="0">
            <a:off x="473588" y="1066800"/>
            <a:ext cx="10910116" cy="876300"/>
          </a:xfrm>
          <a:prstGeom prst="rect">
            <a:avLst/>
          </a:prstGeom>
        </p:spPr>
        <p:txBody>
          <a:bodyPr anchor="t" rtlCol="false" tIns="0" lIns="0" bIns="0" rIns="0">
            <a:spAutoFit/>
          </a:bodyPr>
          <a:lstStyle/>
          <a:p>
            <a:pPr algn="l">
              <a:lnSpc>
                <a:spcPts val="6600"/>
              </a:lnSpc>
            </a:pPr>
            <a:r>
              <a:rPr lang="en-US" sz="6000" b="true">
                <a:solidFill>
                  <a:srgbClr val="02CDFF"/>
                </a:solidFill>
                <a:latin typeface="Barlow Condensed Bold"/>
                <a:ea typeface="Barlow Condensed Bold"/>
                <a:cs typeface="Barlow Condensed Bold"/>
                <a:sym typeface="Barlow Condensed Bold"/>
              </a:rPr>
              <a:t>Adversarial Search: Playing Connect 4</a:t>
            </a:r>
          </a:p>
        </p:txBody>
      </p:sp>
      <p:sp>
        <p:nvSpPr>
          <p:cNvPr name="TextBox 19" id="19"/>
          <p:cNvSpPr txBox="true"/>
          <p:nvPr/>
        </p:nvSpPr>
        <p:spPr>
          <a:xfrm rot="0">
            <a:off x="334865" y="2257425"/>
            <a:ext cx="11563665"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Canva Sans Bold"/>
                <a:ea typeface="Canva Sans Bold"/>
                <a:cs typeface="Canva Sans Bold"/>
                <a:sym typeface="Canva Sans Bold"/>
              </a:rPr>
              <a:t>Task 2: Game Environment and Random Agent</a:t>
            </a:r>
          </a:p>
        </p:txBody>
      </p:sp>
      <p:sp>
        <p:nvSpPr>
          <p:cNvPr name="TextBox 20" id="20"/>
          <p:cNvSpPr txBox="true"/>
          <p:nvPr/>
        </p:nvSpPr>
        <p:spPr>
          <a:xfrm rot="0">
            <a:off x="473588" y="3995553"/>
            <a:ext cx="15577688" cy="4248150"/>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Canva Sans"/>
                <a:ea typeface="Canva Sans"/>
                <a:cs typeface="Canva Sans"/>
                <a:sym typeface="Canva Sans"/>
              </a:rPr>
              <a:t>Các bước chính:</a:t>
            </a:r>
          </a:p>
          <a:p>
            <a:pPr algn="l">
              <a:lnSpc>
                <a:spcPts val="4200"/>
              </a:lnSpc>
              <a:spcBef>
                <a:spcPct val="0"/>
              </a:spcBef>
            </a:pPr>
            <a:r>
              <a:rPr lang="en-US" sz="3000">
                <a:solidFill>
                  <a:srgbClr val="000000"/>
                </a:solidFill>
                <a:latin typeface="Canva Sans"/>
                <a:ea typeface="Canva Sans"/>
                <a:cs typeface="Canva Sans"/>
                <a:sym typeface="Canva Sans"/>
              </a:rPr>
              <a:t>1. </a:t>
            </a:r>
            <a:r>
              <a:rPr lang="en-US" b="true" sz="3000">
                <a:solidFill>
                  <a:srgbClr val="000000"/>
                </a:solidFill>
                <a:latin typeface="Canva Sans Bold"/>
                <a:ea typeface="Canva Sans Bold"/>
                <a:cs typeface="Canva Sans Bold"/>
                <a:sym typeface="Canva Sans Bold"/>
              </a:rPr>
              <a:t>Tạo bàn cờ</a:t>
            </a:r>
            <a:r>
              <a:rPr lang="en-US" sz="3000">
                <a:solidFill>
                  <a:srgbClr val="000000"/>
                </a:solidFill>
                <a:latin typeface="Canva Sans"/>
                <a:ea typeface="Canva Sans"/>
                <a:cs typeface="Canva Sans"/>
                <a:sym typeface="Canva Sans"/>
              </a:rPr>
              <a:t> (mảng numpy).</a:t>
            </a:r>
          </a:p>
          <a:p>
            <a:pPr algn="l">
              <a:lnSpc>
                <a:spcPts val="4200"/>
              </a:lnSpc>
              <a:spcBef>
                <a:spcPct val="0"/>
              </a:spcBef>
            </a:pPr>
            <a:r>
              <a:rPr lang="en-US" sz="3000">
                <a:solidFill>
                  <a:srgbClr val="000000"/>
                </a:solidFill>
                <a:latin typeface="Canva Sans"/>
                <a:ea typeface="Canva Sans"/>
                <a:cs typeface="Canva Sans"/>
                <a:sym typeface="Canva Sans"/>
              </a:rPr>
              <a:t>2. </a:t>
            </a:r>
            <a:r>
              <a:rPr lang="en-US" b="true" sz="3000">
                <a:solidFill>
                  <a:srgbClr val="000000"/>
                </a:solidFill>
                <a:latin typeface="Canva Sans Bold"/>
                <a:ea typeface="Canva Sans Bold"/>
                <a:cs typeface="Canva Sans Bold"/>
                <a:sym typeface="Canva Sans Bold"/>
              </a:rPr>
              <a:t>Xác định hành động hợp lệ</a:t>
            </a:r>
            <a:r>
              <a:rPr lang="en-US" sz="3000">
                <a:solidFill>
                  <a:srgbClr val="000000"/>
                </a:solidFill>
                <a:latin typeface="Canva Sans"/>
                <a:ea typeface="Canva Sans"/>
                <a:cs typeface="Canva Sans"/>
                <a:sym typeface="Canva Sans"/>
              </a:rPr>
              <a:t> (các cột còn trống).</a:t>
            </a:r>
          </a:p>
          <a:p>
            <a:pPr algn="l">
              <a:lnSpc>
                <a:spcPts val="4200"/>
              </a:lnSpc>
              <a:spcBef>
                <a:spcPct val="0"/>
              </a:spcBef>
            </a:pPr>
            <a:r>
              <a:rPr lang="en-US" sz="3000">
                <a:solidFill>
                  <a:srgbClr val="000000"/>
                </a:solidFill>
                <a:latin typeface="Canva Sans"/>
                <a:ea typeface="Canva Sans"/>
                <a:cs typeface="Canva Sans"/>
                <a:sym typeface="Canva Sans"/>
              </a:rPr>
              <a:t>3. </a:t>
            </a:r>
            <a:r>
              <a:rPr lang="en-US" b="true" sz="3000">
                <a:solidFill>
                  <a:srgbClr val="000000"/>
                </a:solidFill>
                <a:latin typeface="Canva Sans Bold"/>
                <a:ea typeface="Canva Sans Bold"/>
                <a:cs typeface="Canva Sans Bold"/>
                <a:sym typeface="Canva Sans Bold"/>
              </a:rPr>
              <a:t>Mô hình chuyển trạng thái</a:t>
            </a:r>
            <a:r>
              <a:rPr lang="en-US" sz="3000">
                <a:solidFill>
                  <a:srgbClr val="000000"/>
                </a:solidFill>
                <a:latin typeface="Canva Sans"/>
                <a:ea typeface="Canva Sans"/>
                <a:cs typeface="Canva Sans"/>
                <a:sym typeface="Canva Sans"/>
              </a:rPr>
              <a:t> (thả quân vào cột).</a:t>
            </a:r>
          </a:p>
          <a:p>
            <a:pPr algn="l">
              <a:lnSpc>
                <a:spcPts val="4200"/>
              </a:lnSpc>
              <a:spcBef>
                <a:spcPct val="0"/>
              </a:spcBef>
            </a:pPr>
            <a:r>
              <a:rPr lang="en-US" sz="3000">
                <a:solidFill>
                  <a:srgbClr val="000000"/>
                </a:solidFill>
                <a:latin typeface="Canva Sans"/>
                <a:ea typeface="Canva Sans"/>
                <a:cs typeface="Canva Sans"/>
                <a:sym typeface="Canva Sans"/>
              </a:rPr>
              <a:t>4. </a:t>
            </a:r>
            <a:r>
              <a:rPr lang="en-US" b="true" sz="3000">
                <a:solidFill>
                  <a:srgbClr val="000000"/>
                </a:solidFill>
                <a:latin typeface="Canva Sans Bold"/>
                <a:ea typeface="Canva Sans Bold"/>
                <a:cs typeface="Canva Sans Bold"/>
                <a:sym typeface="Canva Sans Bold"/>
              </a:rPr>
              <a:t>Kiểm tra người thắng</a:t>
            </a:r>
            <a:r>
              <a:rPr lang="en-US" sz="3000">
                <a:solidFill>
                  <a:srgbClr val="000000"/>
                </a:solidFill>
                <a:latin typeface="Canva Sans"/>
                <a:ea typeface="Canva Sans"/>
                <a:cs typeface="Canva Sans"/>
                <a:sym typeface="Canva Sans"/>
              </a:rPr>
              <a:t> (4 quân liên tiếp).</a:t>
            </a:r>
          </a:p>
          <a:p>
            <a:pPr algn="l">
              <a:lnSpc>
                <a:spcPts val="4200"/>
              </a:lnSpc>
              <a:spcBef>
                <a:spcPct val="0"/>
              </a:spcBef>
            </a:pPr>
            <a:r>
              <a:rPr lang="en-US" sz="3000">
                <a:solidFill>
                  <a:srgbClr val="000000"/>
                </a:solidFill>
                <a:latin typeface="Canva Sans"/>
                <a:ea typeface="Canva Sans"/>
                <a:cs typeface="Canva Sans"/>
                <a:sym typeface="Canva Sans"/>
              </a:rPr>
              <a:t>5. </a:t>
            </a:r>
            <a:r>
              <a:rPr lang="en-US" b="true" sz="3000">
                <a:solidFill>
                  <a:srgbClr val="000000"/>
                </a:solidFill>
                <a:latin typeface="Canva Sans Bold"/>
                <a:ea typeface="Canva Sans Bold"/>
                <a:cs typeface="Canva Sans Bold"/>
                <a:sym typeface="Canva Sans Bold"/>
              </a:rPr>
              <a:t>Kiểm tra trạng thái kết thúc </a:t>
            </a:r>
            <a:r>
              <a:rPr lang="en-US" sz="3000">
                <a:solidFill>
                  <a:srgbClr val="000000"/>
                </a:solidFill>
                <a:latin typeface="Canva Sans"/>
                <a:ea typeface="Canva Sans"/>
                <a:cs typeface="Canva Sans"/>
                <a:sym typeface="Canva Sans"/>
              </a:rPr>
              <a:t>(thắng hoặc hòa).</a:t>
            </a:r>
          </a:p>
          <a:p>
            <a:pPr algn="l">
              <a:lnSpc>
                <a:spcPts val="4200"/>
              </a:lnSpc>
              <a:spcBef>
                <a:spcPct val="0"/>
              </a:spcBef>
            </a:pPr>
            <a:r>
              <a:rPr lang="en-US" sz="3000">
                <a:solidFill>
                  <a:srgbClr val="000000"/>
                </a:solidFill>
                <a:latin typeface="Canva Sans"/>
                <a:ea typeface="Canva Sans"/>
                <a:cs typeface="Canva Sans"/>
                <a:sym typeface="Canva Sans"/>
              </a:rPr>
              <a:t>6. </a:t>
            </a:r>
            <a:r>
              <a:rPr lang="en-US" b="true" sz="3000">
                <a:solidFill>
                  <a:srgbClr val="000000"/>
                </a:solidFill>
                <a:latin typeface="Canva Sans Bold"/>
                <a:ea typeface="Canva Sans Bold"/>
                <a:cs typeface="Canva Sans Bold"/>
                <a:sym typeface="Canva Sans Bold"/>
              </a:rPr>
              <a:t>Hàm tiện ích (utility)</a:t>
            </a:r>
            <a:r>
              <a:rPr lang="en-US" sz="3000">
                <a:solidFill>
                  <a:srgbClr val="000000"/>
                </a:solidFill>
                <a:latin typeface="Canva Sans"/>
                <a:ea typeface="Canva Sans"/>
                <a:cs typeface="Canva Sans"/>
                <a:sym typeface="Canva Sans"/>
              </a:rPr>
              <a:t> – xác định thắng, thua hoặc hòa.</a:t>
            </a:r>
          </a:p>
          <a:p>
            <a:pPr algn="l">
              <a:lnSpc>
                <a:spcPts val="4200"/>
              </a:lnSpc>
              <a:spcBef>
                <a:spcPct val="0"/>
              </a:spcBef>
            </a:pPr>
            <a:r>
              <a:rPr lang="en-US" sz="3000">
                <a:solidFill>
                  <a:srgbClr val="000000"/>
                </a:solidFill>
                <a:latin typeface="Canva Sans"/>
                <a:ea typeface="Canva Sans"/>
                <a:cs typeface="Canva Sans"/>
                <a:sym typeface="Canva Sans"/>
              </a:rPr>
              <a:t>7. </a:t>
            </a:r>
            <a:r>
              <a:rPr lang="en-US" b="true" sz="3000">
                <a:solidFill>
                  <a:srgbClr val="000000"/>
                </a:solidFill>
                <a:latin typeface="Canva Sans Bold"/>
                <a:ea typeface="Canva Sans Bold"/>
                <a:cs typeface="Canva Sans Bold"/>
                <a:sym typeface="Canva Sans Bold"/>
              </a:rPr>
              <a:t>Random agent</a:t>
            </a:r>
            <a:r>
              <a:rPr lang="en-US" sz="3000">
                <a:solidFill>
                  <a:srgbClr val="000000"/>
                </a:solidFill>
                <a:latin typeface="Canva Sans"/>
                <a:ea typeface="Canva Sans"/>
                <a:cs typeface="Canva Sans"/>
                <a:sym typeface="Canva Sans"/>
              </a:rPr>
              <a:t> – chọn ngẫu nhiên một cột hợp lệ để đi.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259300" y="9258300"/>
            <a:ext cx="1028700" cy="1028700"/>
            <a:chOff x="0" y="0"/>
            <a:chExt cx="270933" cy="270933"/>
          </a:xfrm>
        </p:grpSpPr>
        <p:sp>
          <p:nvSpPr>
            <p:cNvPr name="Freeform 10" id="10"/>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1" id="11"/>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658230" y="4097023"/>
            <a:ext cx="9090040" cy="5569620"/>
          </a:xfrm>
          <a:custGeom>
            <a:avLst/>
            <a:gdLst/>
            <a:ahLst/>
            <a:cxnLst/>
            <a:rect r="r" b="b" t="t" l="l"/>
            <a:pathLst>
              <a:path h="5569620" w="9090040">
                <a:moveTo>
                  <a:pt x="0" y="0"/>
                </a:moveTo>
                <a:lnTo>
                  <a:pt x="9090040" y="0"/>
                </a:lnTo>
                <a:lnTo>
                  <a:pt x="9090040" y="5569619"/>
                </a:lnTo>
                <a:lnTo>
                  <a:pt x="0" y="5569619"/>
                </a:lnTo>
                <a:lnTo>
                  <a:pt x="0" y="0"/>
                </a:lnTo>
                <a:close/>
              </a:path>
            </a:pathLst>
          </a:custGeom>
          <a:blipFill>
            <a:blip r:embed="rId4"/>
            <a:stretch>
              <a:fillRect l="0" t="0" r="0" b="0"/>
            </a:stretch>
          </a:blipFill>
        </p:spPr>
      </p:sp>
      <p:sp>
        <p:nvSpPr>
          <p:cNvPr name="TextBox 13" id="13"/>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4" id="14"/>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5" id="15"/>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6" id="16"/>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7" id="17"/>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18" id="18"/>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sp>
        <p:nvSpPr>
          <p:cNvPr name="TextBox 19" id="19"/>
          <p:cNvSpPr txBox="true"/>
          <p:nvPr/>
        </p:nvSpPr>
        <p:spPr>
          <a:xfrm rot="0">
            <a:off x="473588" y="1066800"/>
            <a:ext cx="10910116" cy="876300"/>
          </a:xfrm>
          <a:prstGeom prst="rect">
            <a:avLst/>
          </a:prstGeom>
        </p:spPr>
        <p:txBody>
          <a:bodyPr anchor="t" rtlCol="false" tIns="0" lIns="0" bIns="0" rIns="0">
            <a:spAutoFit/>
          </a:bodyPr>
          <a:lstStyle/>
          <a:p>
            <a:pPr algn="l">
              <a:lnSpc>
                <a:spcPts val="6600"/>
              </a:lnSpc>
            </a:pPr>
            <a:r>
              <a:rPr lang="en-US" sz="6000" b="true">
                <a:solidFill>
                  <a:srgbClr val="02CDFF"/>
                </a:solidFill>
                <a:latin typeface="Barlow Condensed Bold"/>
                <a:ea typeface="Barlow Condensed Bold"/>
                <a:cs typeface="Barlow Condensed Bold"/>
                <a:sym typeface="Barlow Condensed Bold"/>
              </a:rPr>
              <a:t>Adversarial Search: Playing Connect 4</a:t>
            </a:r>
          </a:p>
        </p:txBody>
      </p:sp>
      <p:sp>
        <p:nvSpPr>
          <p:cNvPr name="TextBox 20" id="20"/>
          <p:cNvSpPr txBox="true"/>
          <p:nvPr/>
        </p:nvSpPr>
        <p:spPr>
          <a:xfrm rot="0">
            <a:off x="334865" y="2257425"/>
            <a:ext cx="12373425"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Canva Sans Bold"/>
                <a:ea typeface="Canva Sans Bold"/>
                <a:cs typeface="Canva Sans Bold"/>
                <a:sym typeface="Canva Sans Bold"/>
              </a:rPr>
              <a:t>Task 3: Minimax Search with Alpha-Beta Pruning</a:t>
            </a:r>
          </a:p>
        </p:txBody>
      </p:sp>
      <p:sp>
        <p:nvSpPr>
          <p:cNvPr name="TextBox 21" id="21"/>
          <p:cNvSpPr txBox="true"/>
          <p:nvPr/>
        </p:nvSpPr>
        <p:spPr>
          <a:xfrm rot="0">
            <a:off x="10070815" y="5747801"/>
            <a:ext cx="7976567" cy="1656715"/>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Canva Sans"/>
                <a:ea typeface="Canva Sans"/>
                <a:cs typeface="Canva Sans"/>
                <a:sym typeface="Canva Sans"/>
              </a:rPr>
              <a:t>Test 3 thất bại (trả về None) vì:</a:t>
            </a:r>
          </a:p>
          <a:p>
            <a:pPr algn="l">
              <a:lnSpc>
                <a:spcPts val="2659"/>
              </a:lnSpc>
              <a:spcBef>
                <a:spcPct val="0"/>
              </a:spcBef>
            </a:pPr>
            <a:r>
              <a:rPr lang="en-US" sz="1899">
                <a:solidFill>
                  <a:srgbClr val="000000"/>
                </a:solidFill>
                <a:latin typeface="Canva Sans"/>
                <a:ea typeface="Canva Sans"/>
                <a:cs typeface="Canva Sans"/>
                <a:sym typeface="Canva Sans"/>
              </a:rPr>
              <a:t>Ở vị trí hiện tại, không còn nước đi hợp lệ tạo ra thắng ngay trong cùng lượt, nên trong nhánh minimax đệ quy, hàm actions() trả về danh sách rỗng.</a:t>
            </a:r>
          </a:p>
          <a:p>
            <a:pPr algn="l">
              <a:lnSpc>
                <a:spcPts val="2659"/>
              </a:lnSpc>
              <a:spcBef>
                <a:spcPct val="0"/>
              </a:spcBef>
            </a:pPr>
            <a:r>
              <a:rPr lang="en-US" sz="1899">
                <a:solidFill>
                  <a:srgbClr val="000000"/>
                </a:solidFill>
                <a:latin typeface="Canva Sans"/>
                <a:ea typeface="Canva Sans"/>
                <a:cs typeface="Canva Sans"/>
                <a:sym typeface="Canva Sans"/>
              </a:rPr>
              <a:t>Khi đó, best_move không được cập nhật, dẫn đến trả về None.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7259300" y="9258300"/>
            <a:ext cx="1028700" cy="1028700"/>
            <a:chOff x="0" y="0"/>
            <a:chExt cx="270933" cy="270933"/>
          </a:xfrm>
        </p:grpSpPr>
        <p:sp>
          <p:nvSpPr>
            <p:cNvPr name="Freeform 10" id="10"/>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1" id="11"/>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3" id="13"/>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4" id="14"/>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5" id="15"/>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6" id="16"/>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02</a:t>
            </a:r>
          </a:p>
        </p:txBody>
      </p:sp>
      <p:sp>
        <p:nvSpPr>
          <p:cNvPr name="TextBox 18" id="18"/>
          <p:cNvSpPr txBox="true"/>
          <p:nvPr/>
        </p:nvSpPr>
        <p:spPr>
          <a:xfrm rot="0">
            <a:off x="473588" y="1066800"/>
            <a:ext cx="10910116" cy="876300"/>
          </a:xfrm>
          <a:prstGeom prst="rect">
            <a:avLst/>
          </a:prstGeom>
        </p:spPr>
        <p:txBody>
          <a:bodyPr anchor="t" rtlCol="false" tIns="0" lIns="0" bIns="0" rIns="0">
            <a:spAutoFit/>
          </a:bodyPr>
          <a:lstStyle/>
          <a:p>
            <a:pPr algn="l">
              <a:lnSpc>
                <a:spcPts val="6600"/>
              </a:lnSpc>
            </a:pPr>
            <a:r>
              <a:rPr lang="en-US" sz="6000" b="true">
                <a:solidFill>
                  <a:srgbClr val="02CDFF"/>
                </a:solidFill>
                <a:latin typeface="Barlow Condensed Bold"/>
                <a:ea typeface="Barlow Condensed Bold"/>
                <a:cs typeface="Barlow Condensed Bold"/>
                <a:sym typeface="Barlow Condensed Bold"/>
              </a:rPr>
              <a:t>Adversarial Search: Playing Connect 4</a:t>
            </a:r>
          </a:p>
        </p:txBody>
      </p:sp>
      <p:sp>
        <p:nvSpPr>
          <p:cNvPr name="TextBox 19" id="19"/>
          <p:cNvSpPr txBox="true"/>
          <p:nvPr/>
        </p:nvSpPr>
        <p:spPr>
          <a:xfrm rot="0">
            <a:off x="473588" y="2257425"/>
            <a:ext cx="10234008" cy="679450"/>
          </a:xfrm>
          <a:prstGeom prst="rect">
            <a:avLst/>
          </a:prstGeom>
        </p:spPr>
        <p:txBody>
          <a:bodyPr anchor="t" rtlCol="false" tIns="0" lIns="0" bIns="0" rIns="0">
            <a:spAutoFit/>
          </a:bodyPr>
          <a:lstStyle/>
          <a:p>
            <a:pPr algn="ctr">
              <a:lnSpc>
                <a:spcPts val="5599"/>
              </a:lnSpc>
              <a:spcBef>
                <a:spcPct val="0"/>
              </a:spcBef>
            </a:pPr>
            <a:r>
              <a:rPr lang="en-US" b="true" sz="3999">
                <a:solidFill>
                  <a:srgbClr val="000000"/>
                </a:solidFill>
                <a:latin typeface="Canva Sans Bold"/>
                <a:ea typeface="Canva Sans Bold"/>
                <a:cs typeface="Canva Sans Bold"/>
                <a:sym typeface="Canva Sans Bold"/>
              </a:rPr>
              <a:t>Task 4: Heuristic Alpha-Beta Tree Search</a:t>
            </a:r>
          </a:p>
        </p:txBody>
      </p:sp>
      <p:sp>
        <p:nvSpPr>
          <p:cNvPr name="TextBox 20" id="20"/>
          <p:cNvSpPr txBox="true"/>
          <p:nvPr/>
        </p:nvSpPr>
        <p:spPr>
          <a:xfrm rot="0">
            <a:off x="473588" y="3294380"/>
            <a:ext cx="15587122" cy="6539865"/>
          </a:xfrm>
          <a:prstGeom prst="rect">
            <a:avLst/>
          </a:prstGeom>
        </p:spPr>
        <p:txBody>
          <a:bodyPr anchor="t" rtlCol="false" tIns="0" lIns="0" bIns="0" rIns="0">
            <a:spAutoFit/>
          </a:bodyPr>
          <a:lstStyle/>
          <a:p>
            <a:pPr algn="l">
              <a:lnSpc>
                <a:spcPts val="3499"/>
              </a:lnSpc>
              <a:spcBef>
                <a:spcPct val="0"/>
              </a:spcBef>
            </a:pPr>
            <a:r>
              <a:rPr lang="en-US" b="true" sz="2499">
                <a:solidFill>
                  <a:srgbClr val="000000"/>
                </a:solidFill>
                <a:latin typeface="Canva Sans Bold"/>
                <a:ea typeface="Canva Sans Bold"/>
                <a:cs typeface="Canva Sans Bold"/>
                <a:sym typeface="Canva Sans Bold"/>
              </a:rPr>
              <a:t>Duyệt qua tất cả các nhóm 4 ô liên tiếp (window) </a:t>
            </a:r>
          </a:p>
          <a:p>
            <a:pPr algn="l">
              <a:lnSpc>
                <a:spcPts val="3219"/>
              </a:lnSpc>
              <a:spcBef>
                <a:spcPct val="0"/>
              </a:spcBef>
            </a:pPr>
            <a:r>
              <a:rPr lang="en-US" sz="2299">
                <a:solidFill>
                  <a:srgbClr val="000000"/>
                </a:solidFill>
                <a:latin typeface="Canva Sans"/>
                <a:ea typeface="Canva Sans"/>
                <a:cs typeface="Canva Sans"/>
                <a:sym typeface="Canva Sans"/>
              </a:rPr>
              <a:t>theo hàng ngang</a:t>
            </a:r>
          </a:p>
          <a:p>
            <a:pPr algn="l">
              <a:lnSpc>
                <a:spcPts val="3219"/>
              </a:lnSpc>
              <a:spcBef>
                <a:spcPct val="0"/>
              </a:spcBef>
            </a:pPr>
            <a:r>
              <a:rPr lang="en-US" sz="2299">
                <a:solidFill>
                  <a:srgbClr val="000000"/>
                </a:solidFill>
                <a:latin typeface="Canva Sans"/>
                <a:ea typeface="Canva Sans"/>
                <a:cs typeface="Canva Sans"/>
                <a:sym typeface="Canva Sans"/>
              </a:rPr>
              <a:t>theo cột dọc</a:t>
            </a:r>
          </a:p>
          <a:p>
            <a:pPr algn="l">
              <a:lnSpc>
                <a:spcPts val="3219"/>
              </a:lnSpc>
              <a:spcBef>
                <a:spcPct val="0"/>
              </a:spcBef>
            </a:pPr>
            <a:r>
              <a:rPr lang="en-US" sz="2299">
                <a:solidFill>
                  <a:srgbClr val="000000"/>
                </a:solidFill>
                <a:latin typeface="Canva Sans"/>
                <a:ea typeface="Canva Sans"/>
                <a:cs typeface="Canva Sans"/>
                <a:sym typeface="Canva Sans"/>
              </a:rPr>
              <a:t>theo chéo xuống (↘️)</a:t>
            </a:r>
          </a:p>
          <a:p>
            <a:pPr algn="l">
              <a:lnSpc>
                <a:spcPts val="3219"/>
              </a:lnSpc>
              <a:spcBef>
                <a:spcPct val="0"/>
              </a:spcBef>
            </a:pPr>
            <a:r>
              <a:rPr lang="en-US" sz="2299">
                <a:solidFill>
                  <a:srgbClr val="000000"/>
                </a:solidFill>
                <a:latin typeface="Canva Sans"/>
                <a:ea typeface="Canva Sans"/>
                <a:cs typeface="Canva Sans"/>
                <a:sym typeface="Canva Sans"/>
              </a:rPr>
              <a:t>theo chéo lên (↗️)</a:t>
            </a:r>
          </a:p>
          <a:p>
            <a:pPr algn="l">
              <a:lnSpc>
                <a:spcPts val="3499"/>
              </a:lnSpc>
              <a:spcBef>
                <a:spcPct val="0"/>
              </a:spcBef>
            </a:pPr>
            <a:r>
              <a:rPr lang="en-US" b="true" sz="2499">
                <a:solidFill>
                  <a:srgbClr val="000000"/>
                </a:solidFill>
                <a:latin typeface="Canva Sans Bold"/>
                <a:ea typeface="Canva Sans Bold"/>
                <a:cs typeface="Canva Sans Bold"/>
                <a:sym typeface="Canva Sans Bold"/>
              </a:rPr>
              <a:t>Đánh giá từng nhóm 4 ô: </a:t>
            </a:r>
          </a:p>
          <a:p>
            <a:pPr algn="l">
              <a:lnSpc>
                <a:spcPts val="3219"/>
              </a:lnSpc>
              <a:spcBef>
                <a:spcPct val="0"/>
              </a:spcBef>
            </a:pPr>
            <a:r>
              <a:rPr lang="en-US" sz="2299">
                <a:solidFill>
                  <a:srgbClr val="000000"/>
                </a:solidFill>
                <a:latin typeface="Canva Sans"/>
                <a:ea typeface="Canva Sans"/>
                <a:cs typeface="Canva Sans"/>
                <a:sym typeface="Canva Sans"/>
              </a:rPr>
              <a:t>Nếu người chơi có 4 quân liên tiếp → +100 (thắng mạnh)</a:t>
            </a:r>
          </a:p>
          <a:p>
            <a:pPr algn="l">
              <a:lnSpc>
                <a:spcPts val="3219"/>
              </a:lnSpc>
              <a:spcBef>
                <a:spcPct val="0"/>
              </a:spcBef>
            </a:pPr>
            <a:r>
              <a:rPr lang="en-US" sz="2299">
                <a:solidFill>
                  <a:srgbClr val="000000"/>
                </a:solidFill>
                <a:latin typeface="Canva Sans"/>
                <a:ea typeface="Canva Sans"/>
                <a:cs typeface="Canva Sans"/>
                <a:sym typeface="Canva Sans"/>
              </a:rPr>
              <a:t>Nếu đối thủ có 4 quân liên tiếp → −100 (thua nặng)</a:t>
            </a:r>
          </a:p>
          <a:p>
            <a:pPr algn="l">
              <a:lnSpc>
                <a:spcPts val="3219"/>
              </a:lnSpc>
              <a:spcBef>
                <a:spcPct val="0"/>
              </a:spcBef>
            </a:pPr>
            <a:r>
              <a:rPr lang="en-US" sz="2299">
                <a:solidFill>
                  <a:srgbClr val="000000"/>
                </a:solidFill>
                <a:latin typeface="Canva Sans"/>
                <a:ea typeface="Canva Sans"/>
                <a:cs typeface="Canva Sans"/>
                <a:sym typeface="Canva Sans"/>
              </a:rPr>
              <a:t>Nếu người chơi có 3 quân + 1 ô trống → +10 (gần thắng)</a:t>
            </a:r>
          </a:p>
          <a:p>
            <a:pPr algn="l">
              <a:lnSpc>
                <a:spcPts val="3219"/>
              </a:lnSpc>
              <a:spcBef>
                <a:spcPct val="0"/>
              </a:spcBef>
            </a:pPr>
            <a:r>
              <a:rPr lang="en-US" sz="2299">
                <a:solidFill>
                  <a:srgbClr val="000000"/>
                </a:solidFill>
                <a:latin typeface="Canva Sans"/>
                <a:ea typeface="Canva Sans"/>
                <a:cs typeface="Canva Sans"/>
                <a:sym typeface="Canva Sans"/>
              </a:rPr>
              <a:t>Nếu người chơi có 2 quân + 2 ô trống → +5</a:t>
            </a:r>
          </a:p>
          <a:p>
            <a:pPr algn="l">
              <a:lnSpc>
                <a:spcPts val="3219"/>
              </a:lnSpc>
              <a:spcBef>
                <a:spcPct val="0"/>
              </a:spcBef>
            </a:pPr>
            <a:r>
              <a:rPr lang="en-US" sz="2299">
                <a:solidFill>
                  <a:srgbClr val="000000"/>
                </a:solidFill>
                <a:latin typeface="Canva Sans"/>
                <a:ea typeface="Canva Sans"/>
                <a:cs typeface="Canva Sans"/>
                <a:sym typeface="Canva Sans"/>
              </a:rPr>
              <a:t>Nếu đối thủ có 3 quân + 1 ô trống → −8 (nguy hiểm)</a:t>
            </a:r>
          </a:p>
          <a:p>
            <a:pPr algn="l">
              <a:lnSpc>
                <a:spcPts val="3219"/>
              </a:lnSpc>
              <a:spcBef>
                <a:spcPct val="0"/>
              </a:spcBef>
            </a:pPr>
            <a:r>
              <a:rPr lang="en-US" sz="2299">
                <a:solidFill>
                  <a:srgbClr val="000000"/>
                </a:solidFill>
                <a:latin typeface="Canva Sans"/>
                <a:ea typeface="Canva Sans"/>
                <a:cs typeface="Canva Sans"/>
                <a:sym typeface="Canva Sans"/>
              </a:rPr>
              <a:t>Nếu đối thủ có 2 quân + 2 ô trống → −3</a:t>
            </a:r>
          </a:p>
          <a:p>
            <a:pPr algn="l">
              <a:lnSpc>
                <a:spcPts val="3499"/>
              </a:lnSpc>
              <a:spcBef>
                <a:spcPct val="0"/>
              </a:spcBef>
            </a:pPr>
            <a:r>
              <a:rPr lang="en-US" b="true" sz="2499">
                <a:solidFill>
                  <a:srgbClr val="000000"/>
                </a:solidFill>
                <a:latin typeface="Canva Sans Bold"/>
                <a:ea typeface="Canva Sans Bold"/>
                <a:cs typeface="Canva Sans Bold"/>
                <a:sym typeface="Canva Sans Bold"/>
              </a:rPr>
              <a:t>Ưu tiên trung tâm bàn cờ</a:t>
            </a:r>
          </a:p>
          <a:p>
            <a:pPr algn="l">
              <a:lnSpc>
                <a:spcPts val="3219"/>
              </a:lnSpc>
              <a:spcBef>
                <a:spcPct val="0"/>
              </a:spcBef>
            </a:pPr>
            <a:r>
              <a:rPr lang="en-US" sz="2299">
                <a:solidFill>
                  <a:srgbClr val="000000"/>
                </a:solidFill>
                <a:latin typeface="Canva Sans"/>
                <a:ea typeface="Canva Sans"/>
                <a:cs typeface="Canva Sans"/>
                <a:sym typeface="Canva Sans"/>
              </a:rPr>
              <a:t>Người chơi nào có nhiều quân ở cột giữa được thưởng thêm điểm, vì trung tâm có nhiều hướng chiến thắng hơn.</a:t>
            </a:r>
          </a:p>
          <a:p>
            <a:pPr algn="l">
              <a:lnSpc>
                <a:spcPts val="3499"/>
              </a:lnSpc>
              <a:spcBef>
                <a:spcPct val="0"/>
              </a:spcBef>
            </a:pPr>
            <a:r>
              <a:rPr lang="en-US" b="true" sz="2499">
                <a:solidFill>
                  <a:srgbClr val="000000"/>
                </a:solidFill>
                <a:latin typeface="Canva Sans Bold"/>
                <a:ea typeface="Canva Sans Bold"/>
                <a:cs typeface="Canva Sans Bold"/>
                <a:sym typeface="Canva Sans Bold"/>
              </a:rPr>
              <a:t>Chuẩn hóa điểm cuối cùng trong khoảng [-100, 100]</a:t>
            </a:r>
          </a:p>
          <a:p>
            <a:pPr algn="l">
              <a:lnSpc>
                <a:spcPts val="3219"/>
              </a:lnSpc>
              <a:spcBef>
                <a:spcPct val="0"/>
              </a:spcBef>
            </a:pPr>
            <a:r>
              <a:rPr lang="en-US" sz="2299">
                <a:solidFill>
                  <a:srgbClr val="000000"/>
                </a:solidFill>
                <a:latin typeface="Canva Sans"/>
                <a:ea typeface="Canva Sans"/>
                <a:cs typeface="Canva Sans"/>
                <a:sym typeface="Canva Sans"/>
              </a:rPr>
              <a:t>→ tránh việc điểm số phóng đại do cộng dồn quá nhiều cửa sổ.</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08</a:t>
            </a:r>
          </a:p>
        </p:txBody>
      </p:sp>
      <p:sp>
        <p:nvSpPr>
          <p:cNvPr name="TextBox 18" id="18"/>
          <p:cNvSpPr txBox="true"/>
          <p:nvPr/>
        </p:nvSpPr>
        <p:spPr>
          <a:xfrm rot="0">
            <a:off x="2471719" y="3811587"/>
            <a:ext cx="13344562" cy="2730500"/>
          </a:xfrm>
          <a:prstGeom prst="rect">
            <a:avLst/>
          </a:prstGeom>
        </p:spPr>
        <p:txBody>
          <a:bodyPr anchor="t" rtlCol="false" tIns="0" lIns="0" bIns="0" rIns="0">
            <a:spAutoFit/>
          </a:bodyPr>
          <a:lstStyle/>
          <a:p>
            <a:pPr algn="ctr">
              <a:lnSpc>
                <a:spcPts val="7150"/>
              </a:lnSpc>
            </a:pPr>
            <a:r>
              <a:rPr lang="en-US" b="true" sz="6500">
                <a:solidFill>
                  <a:srgbClr val="02CDFF"/>
                </a:solidFill>
                <a:latin typeface="Barlow Condensed Bold"/>
                <a:ea typeface="Barlow Condensed Bold"/>
                <a:cs typeface="Barlow Condensed Bold"/>
                <a:sym typeface="Barlow Condensed Bold"/>
              </a:rPr>
              <a:t>Adversarial Search: Solving Tic-Tac-Toe with Minimax Search and Alpha-Beta Pruning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59300" y="0"/>
            <a:ext cx="1028700" cy="1028700"/>
            <a:chOff x="0" y="0"/>
            <a:chExt cx="270933" cy="270933"/>
          </a:xfrm>
        </p:grpSpPr>
        <p:sp>
          <p:nvSpPr>
            <p:cNvPr name="Freeform 6" id="6"/>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7" id="7"/>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9" id="9"/>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0" id="10"/>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1" id="11"/>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12" id="12"/>
          <p:cNvGrpSpPr/>
          <p:nvPr/>
        </p:nvGrpSpPr>
        <p:grpSpPr>
          <a:xfrm rot="0">
            <a:off x="17259300" y="9258300"/>
            <a:ext cx="1028700" cy="1028700"/>
            <a:chOff x="0" y="0"/>
            <a:chExt cx="270933" cy="270933"/>
          </a:xfrm>
        </p:grpSpPr>
        <p:sp>
          <p:nvSpPr>
            <p:cNvPr name="Freeform 13" id="13"/>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4" id="14"/>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09</a:t>
            </a:r>
          </a:p>
        </p:txBody>
      </p:sp>
      <p:grpSp>
        <p:nvGrpSpPr>
          <p:cNvPr name="Group 16" id="16"/>
          <p:cNvGrpSpPr/>
          <p:nvPr/>
        </p:nvGrpSpPr>
        <p:grpSpPr>
          <a:xfrm rot="0">
            <a:off x="691666" y="0"/>
            <a:ext cx="7030955" cy="10287000"/>
            <a:chOff x="0" y="0"/>
            <a:chExt cx="9374607" cy="13716000"/>
          </a:xfrm>
        </p:grpSpPr>
        <p:pic>
          <p:nvPicPr>
            <p:cNvPr name="Picture 17" id="17"/>
            <p:cNvPicPr>
              <a:picLocks noChangeAspect="true"/>
            </p:cNvPicPr>
            <p:nvPr/>
          </p:nvPicPr>
          <p:blipFill>
            <a:blip r:embed="rId2"/>
            <a:srcRect l="0" t="2520" r="0" b="0"/>
            <a:stretch>
              <a:fillRect/>
            </a:stretch>
          </p:blipFill>
          <p:spPr>
            <a:xfrm flipH="true" flipV="false">
              <a:off x="0" y="0"/>
              <a:ext cx="9374607" cy="13716000"/>
            </a:xfrm>
            <a:prstGeom prst="rect">
              <a:avLst/>
            </a:prstGeom>
          </p:spPr>
        </p:pic>
      </p:grpSp>
      <p:sp>
        <p:nvSpPr>
          <p:cNvPr name="TextBox 18" id="18"/>
          <p:cNvSpPr txBox="true"/>
          <p:nvPr/>
        </p:nvSpPr>
        <p:spPr>
          <a:xfrm rot="0">
            <a:off x="8437815" y="2680890"/>
            <a:ext cx="8642945" cy="5434331"/>
          </a:xfrm>
          <a:prstGeom prst="rect">
            <a:avLst/>
          </a:prstGeom>
        </p:spPr>
        <p:txBody>
          <a:bodyPr anchor="t" rtlCol="false" tIns="0" lIns="0" bIns="0" rIns="0">
            <a:spAutoFit/>
          </a:bodyPr>
          <a:lstStyle/>
          <a:p>
            <a:pPr algn="l">
              <a:lnSpc>
                <a:spcPts val="3919"/>
              </a:lnSpc>
            </a:pPr>
            <a:r>
              <a:rPr lang="en-US" sz="2799">
                <a:solidFill>
                  <a:srgbClr val="1F2020"/>
                </a:solidFill>
                <a:latin typeface="Open Sans"/>
                <a:ea typeface="Open Sans"/>
                <a:cs typeface="Open Sans"/>
                <a:sym typeface="Open Sans"/>
              </a:rPr>
              <a:t>Bài toán là giải quyết trò chơi Tic-Tac-Toe (còn gọi là X-O) một cách tối ưu trong môi trường đối kháng (adversarial), nơi người chơi 'X' (Max player) cố gắng tối đa hóa điểm số (+1 nếu thắng, 0 nếu hòa, -1 nếu thua), và đối thủ 'O' (Min player) cố gắng tối thiểu hóa điểm số. Đây là trò chơi zero-sum (lợi ích của một bên là thiệt hại của bên kia), và mục tiêu là tìm nước đi tối ưu tiếp theo (best next move) bằng cách tìm kiếm toàn bộ cây trò chơi (game tree) để đảm bảo kết quả tốt nhất giả sử đối thủ chơi tối ưu.</a:t>
            </a:r>
          </a:p>
          <a:p>
            <a:pPr algn="l">
              <a:lnSpc>
                <a:spcPts val="3919"/>
              </a:lnSpc>
              <a:spcBef>
                <a:spcPct val="0"/>
              </a:spcBef>
            </a:pPr>
          </a:p>
        </p:txBody>
      </p:sp>
      <p:sp>
        <p:nvSpPr>
          <p:cNvPr name="TextBox 19" id="19"/>
          <p:cNvSpPr txBox="true"/>
          <p:nvPr/>
        </p:nvSpPr>
        <p:spPr>
          <a:xfrm rot="0">
            <a:off x="8018658" y="1047750"/>
            <a:ext cx="9481260" cy="584201"/>
          </a:xfrm>
          <a:prstGeom prst="rect">
            <a:avLst/>
          </a:prstGeom>
        </p:spPr>
        <p:txBody>
          <a:bodyPr anchor="t" rtlCol="false" tIns="0" lIns="0" bIns="0" rIns="0">
            <a:spAutoFit/>
          </a:bodyPr>
          <a:lstStyle/>
          <a:p>
            <a:pPr algn="l">
              <a:lnSpc>
                <a:spcPts val="4400"/>
              </a:lnSpc>
            </a:pPr>
            <a:r>
              <a:rPr lang="en-US" sz="4000" b="true">
                <a:solidFill>
                  <a:srgbClr val="02CDFF"/>
                </a:solidFill>
                <a:latin typeface="Barlow Condensed Bold"/>
                <a:ea typeface="Barlow Condensed Bold"/>
                <a:cs typeface="Barlow Condensed Bold"/>
                <a:sym typeface="Barlow Condensed Bold"/>
              </a:rPr>
              <a:t>1. Định nghĩa vấn đề, bài toán (Define the Problem)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59300" y="9258300"/>
            <a:ext cx="1028700" cy="1028700"/>
            <a:chOff x="0" y="0"/>
            <a:chExt cx="270933" cy="270933"/>
          </a:xfrm>
        </p:grpSpPr>
        <p:sp>
          <p:nvSpPr>
            <p:cNvPr name="Freeform 6" id="6"/>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7" id="7"/>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10</a:t>
            </a:r>
          </a:p>
        </p:txBody>
      </p:sp>
      <p:grpSp>
        <p:nvGrpSpPr>
          <p:cNvPr name="Group 9" id="9"/>
          <p:cNvGrpSpPr/>
          <p:nvPr/>
        </p:nvGrpSpPr>
        <p:grpSpPr>
          <a:xfrm rot="0">
            <a:off x="-6435782" y="-722600"/>
            <a:ext cx="12614728" cy="11401186"/>
            <a:chOff x="0" y="0"/>
            <a:chExt cx="16819637" cy="15201582"/>
          </a:xfrm>
        </p:grpSpPr>
        <p:pic>
          <p:nvPicPr>
            <p:cNvPr name="Picture 10" id="10"/>
            <p:cNvPicPr>
              <a:picLocks noChangeAspect="true"/>
            </p:cNvPicPr>
            <p:nvPr/>
          </p:nvPicPr>
          <p:blipFill>
            <a:blip r:embed="rId2"/>
            <a:srcRect l="13141" t="0" r="13141" b="0"/>
            <a:stretch>
              <a:fillRect/>
            </a:stretch>
          </p:blipFill>
          <p:spPr>
            <a:xfrm flipH="false" flipV="false">
              <a:off x="0" y="0"/>
              <a:ext cx="16819637" cy="15201582"/>
            </a:xfrm>
            <a:prstGeom prst="rect">
              <a:avLst/>
            </a:prstGeom>
          </p:spPr>
        </p:pic>
      </p:grpSp>
      <p:sp>
        <p:nvSpPr>
          <p:cNvPr name="TextBox 11" id="11"/>
          <p:cNvSpPr txBox="true"/>
          <p:nvPr/>
        </p:nvSpPr>
        <p:spPr>
          <a:xfrm rot="0">
            <a:off x="6553887" y="1076325"/>
            <a:ext cx="11493495" cy="1346836"/>
          </a:xfrm>
          <a:prstGeom prst="rect">
            <a:avLst/>
          </a:prstGeom>
        </p:spPr>
        <p:txBody>
          <a:bodyPr anchor="t" rtlCol="false" tIns="0" lIns="0" bIns="0" rIns="0">
            <a:spAutoFit/>
          </a:bodyPr>
          <a:lstStyle/>
          <a:p>
            <a:pPr algn="l">
              <a:lnSpc>
                <a:spcPts val="5280"/>
              </a:lnSpc>
            </a:pPr>
            <a:r>
              <a:rPr lang="en-US" sz="4800" b="true">
                <a:solidFill>
                  <a:srgbClr val="02CDFF"/>
                </a:solidFill>
                <a:latin typeface="Barlow Condensed Bold"/>
                <a:ea typeface="Barlow Condensed Bold"/>
                <a:cs typeface="Barlow Condensed Bold"/>
                <a:sym typeface="Barlow Condensed Bold"/>
              </a:rPr>
              <a:t>2. Phương pháp làm, cách hoạt động, ý tưởng của các thuật toán khi giải quyết vấn đề đó:</a:t>
            </a:r>
          </a:p>
        </p:txBody>
      </p:sp>
      <p:sp>
        <p:nvSpPr>
          <p:cNvPr name="TextBox 12" id="12"/>
          <p:cNvSpPr txBox="true"/>
          <p:nvPr/>
        </p:nvSpPr>
        <p:spPr>
          <a:xfrm rot="0">
            <a:off x="6740026" y="3222853"/>
            <a:ext cx="11009812" cy="3453131"/>
          </a:xfrm>
          <a:prstGeom prst="rect">
            <a:avLst/>
          </a:prstGeom>
        </p:spPr>
        <p:txBody>
          <a:bodyPr anchor="t" rtlCol="false" tIns="0" lIns="0" bIns="0" rIns="0">
            <a:spAutoFit/>
          </a:bodyPr>
          <a:lstStyle/>
          <a:p>
            <a:pPr algn="l">
              <a:lnSpc>
                <a:spcPts val="3919"/>
              </a:lnSpc>
              <a:spcBef>
                <a:spcPct val="0"/>
              </a:spcBef>
            </a:pPr>
            <a:r>
              <a:rPr lang="en-US" sz="2799">
                <a:solidFill>
                  <a:srgbClr val="1F2020"/>
                </a:solidFill>
                <a:latin typeface="Open Sans"/>
                <a:ea typeface="Open Sans"/>
                <a:cs typeface="Open Sans"/>
                <a:sym typeface="Open Sans"/>
              </a:rPr>
              <a:t>Minimax là thuật toán cơ bản cho trò chơi đối kháng, xây dựng cây trò chơi nơi Max (agent) tối đa hóa utility, Min (đối thủ) tối thiểu hóa. Alpha-Beta Pruning tối ưu Minimax bằng cách cắt nhánh không ảnh hưởng đến quyết định cuối (dựa trên alpha: giá trị tốt nhất Max có thể đảm bảo; beta: giá trị tốt nhất Min có thể đảm bảo). Move Ordering sắp xếp actions theo ưu tiên (center/corners trước) để pruning sớm hơn.</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10969" y="285748"/>
            <a:ext cx="8243101" cy="613411"/>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Canva Sans"/>
                <a:ea typeface="Canva Sans"/>
                <a:cs typeface="Canva Sans"/>
                <a:sym typeface="Canva Sans"/>
              </a:rPr>
              <a:t>Cách hoạt động của các thuật toán:</a:t>
            </a:r>
          </a:p>
        </p:txBody>
      </p:sp>
      <p:sp>
        <p:nvSpPr>
          <p:cNvPr name="TextBox 3" id="3"/>
          <p:cNvSpPr txBox="true"/>
          <p:nvPr/>
        </p:nvSpPr>
        <p:spPr>
          <a:xfrm rot="0">
            <a:off x="510969" y="1236912"/>
            <a:ext cx="15450741" cy="2590801"/>
          </a:xfrm>
          <a:prstGeom prst="rect">
            <a:avLst/>
          </a:prstGeom>
        </p:spPr>
        <p:txBody>
          <a:bodyPr anchor="t" rtlCol="false" tIns="0" lIns="0" bIns="0" rIns="0">
            <a:spAutoFit/>
          </a:bodyPr>
          <a:lstStyle/>
          <a:p>
            <a:pPr algn="l" marL="647694" indent="-323847" lvl="1">
              <a:lnSpc>
                <a:spcPts val="4199"/>
              </a:lnSpc>
              <a:buAutoNum type="arabicPeriod" startAt="1"/>
            </a:pPr>
            <a:r>
              <a:rPr lang="en-US" sz="2999">
                <a:solidFill>
                  <a:srgbClr val="000000"/>
                </a:solidFill>
                <a:latin typeface="Canva Sans"/>
                <a:ea typeface="Canva Sans"/>
                <a:cs typeface="Canva Sans"/>
                <a:sym typeface="Canva Sans"/>
              </a:rPr>
              <a:t>Cấu trúc cây trò chơi: </a:t>
            </a:r>
          </a:p>
          <a:p>
            <a:pPr algn="l" marL="1295387" indent="-431796" lvl="2">
              <a:lnSpc>
                <a:spcPts val="4199"/>
              </a:lnSpc>
              <a:spcBef>
                <a:spcPct val="0"/>
              </a:spcBef>
              <a:buFont typeface="Arial"/>
              <a:buChar char="⚬"/>
            </a:pPr>
            <a:r>
              <a:rPr lang="en-US" sz="2999">
                <a:solidFill>
                  <a:srgbClr val="000000"/>
                </a:solidFill>
                <a:latin typeface="Canva Sans"/>
                <a:ea typeface="Canva Sans"/>
                <a:cs typeface="Canva Sans"/>
                <a:sym typeface="Canva Sans"/>
              </a:rPr>
              <a:t>Max N</a:t>
            </a:r>
            <a:r>
              <a:rPr lang="en-US" sz="2999">
                <a:solidFill>
                  <a:srgbClr val="000000"/>
                </a:solidFill>
                <a:latin typeface="Canva Sans"/>
                <a:ea typeface="Canva Sans"/>
                <a:cs typeface="Canva Sans"/>
                <a:sym typeface="Canva Sans"/>
              </a:rPr>
              <a:t>ode (turn của 'X'): Chọn action dẫn đến giá trị cao nhất từ các Min con.</a:t>
            </a:r>
          </a:p>
          <a:p>
            <a:pPr algn="l" marL="1295387" indent="-431796" lvl="2">
              <a:lnSpc>
                <a:spcPts val="4199"/>
              </a:lnSpc>
              <a:spcBef>
                <a:spcPct val="0"/>
              </a:spcBef>
              <a:buFont typeface="Arial"/>
              <a:buChar char="⚬"/>
            </a:pPr>
            <a:r>
              <a:rPr lang="en-US" sz="2999">
                <a:solidFill>
                  <a:srgbClr val="000000"/>
                </a:solidFill>
                <a:latin typeface="Canva Sans"/>
                <a:ea typeface="Canva Sans"/>
                <a:cs typeface="Canva Sans"/>
                <a:sym typeface="Canva Sans"/>
              </a:rPr>
              <a:t>Min Node (turn của 'O'): Chọn action dẫn đến giá trị thấp nhất từ các Max con.</a:t>
            </a:r>
          </a:p>
          <a:p>
            <a:pPr algn="l" marL="1295387" indent="-431796" lvl="2">
              <a:lnSpc>
                <a:spcPts val="4199"/>
              </a:lnSpc>
              <a:spcBef>
                <a:spcPct val="0"/>
              </a:spcBef>
              <a:buFont typeface="Arial"/>
              <a:buChar char="⚬"/>
            </a:pPr>
            <a:r>
              <a:rPr lang="en-US" sz="2999">
                <a:solidFill>
                  <a:srgbClr val="000000"/>
                </a:solidFill>
                <a:latin typeface="Canva Sans"/>
                <a:ea typeface="Canva Sans"/>
                <a:cs typeface="Canva Sans"/>
                <a:sym typeface="Canva Sans"/>
              </a:rPr>
              <a:t>Lá cây (terminal): Utility(state): +1 (Max win), -1 (Min win), 0 (draw).</a:t>
            </a:r>
          </a:p>
          <a:p>
            <a:pPr algn="l">
              <a:lnSpc>
                <a:spcPts val="4199"/>
              </a:lnSpc>
              <a:spcBef>
                <a:spcPct val="0"/>
              </a:spcBef>
            </a:pPr>
          </a:p>
        </p:txBody>
      </p:sp>
      <p:sp>
        <p:nvSpPr>
          <p:cNvPr name="TextBox 4" id="4"/>
          <p:cNvSpPr txBox="true"/>
          <p:nvPr/>
        </p:nvSpPr>
        <p:spPr>
          <a:xfrm rot="0">
            <a:off x="722382" y="3505199"/>
            <a:ext cx="16843236" cy="6781801"/>
          </a:xfrm>
          <a:prstGeom prst="rect">
            <a:avLst/>
          </a:prstGeom>
        </p:spPr>
        <p:txBody>
          <a:bodyPr anchor="t" rtlCol="false" tIns="0" lIns="0" bIns="0" rIns="0">
            <a:spAutoFit/>
          </a:bodyPr>
          <a:lstStyle/>
          <a:p>
            <a:pPr algn="l">
              <a:lnSpc>
                <a:spcPts val="4199"/>
              </a:lnSpc>
            </a:pPr>
            <a:r>
              <a:rPr lang="en-US" sz="2999">
                <a:solidFill>
                  <a:srgbClr val="000000"/>
                </a:solidFill>
                <a:latin typeface="Canva Sans"/>
                <a:ea typeface="Canva Sans"/>
                <a:cs typeface="Canva Sans"/>
                <a:sym typeface="Canva Sans"/>
              </a:rPr>
              <a:t>2. Quy trình Minimax (Recursive DFS): </a:t>
            </a:r>
          </a:p>
          <a:p>
            <a:pPr algn="l" marL="1295387" indent="-431796" lvl="2">
              <a:lnSpc>
                <a:spcPts val="4199"/>
              </a:lnSpc>
              <a:spcBef>
                <a:spcPct val="0"/>
              </a:spcBef>
              <a:buFont typeface="Arial"/>
              <a:buChar char="⚬"/>
            </a:pPr>
            <a:r>
              <a:rPr lang="en-US" sz="2999">
                <a:solidFill>
                  <a:srgbClr val="000000"/>
                </a:solidFill>
                <a:latin typeface="Canva Sans"/>
                <a:ea typeface="Canva Sans"/>
                <a:cs typeface="Canva Sans"/>
                <a:sym typeface="Canva Sans"/>
              </a:rPr>
              <a:t>minimax_search(b</a:t>
            </a:r>
            <a:r>
              <a:rPr lang="en-US" sz="2999">
                <a:solidFill>
                  <a:srgbClr val="000000"/>
                </a:solidFill>
                <a:latin typeface="Canva Sans"/>
                <a:ea typeface="Canva Sans"/>
                <a:cs typeface="Canva Sans"/>
                <a:sym typeface="Canva Sans"/>
              </a:rPr>
              <a:t>oard, player='x'): Gọi max_value, return {'move': best_action, 'value': v}.</a:t>
            </a:r>
          </a:p>
          <a:p>
            <a:pPr algn="l" marL="1295387" indent="-431796" lvl="2">
              <a:lnSpc>
                <a:spcPts val="4199"/>
              </a:lnSpc>
              <a:spcBef>
                <a:spcPct val="0"/>
              </a:spcBef>
              <a:buFont typeface="Arial"/>
              <a:buChar char="⚬"/>
            </a:pPr>
            <a:r>
              <a:rPr lang="en-US" sz="2999">
                <a:solidFill>
                  <a:srgbClr val="000000"/>
                </a:solidFill>
                <a:latin typeface="Canva Sans"/>
                <a:ea typeface="Canva Sans"/>
                <a:cs typeface="Canva Sans"/>
                <a:sym typeface="Canva Sans"/>
              </a:rPr>
              <a:t>max_value(state, player): </a:t>
            </a:r>
          </a:p>
          <a:p>
            <a:pPr algn="l" marL="1943081" indent="-485770" lvl="3">
              <a:lnSpc>
                <a:spcPts val="4199"/>
              </a:lnSpc>
              <a:spcBef>
                <a:spcPct val="0"/>
              </a:spcBef>
              <a:buFont typeface="Arial"/>
              <a:buChar char="￭"/>
            </a:pPr>
            <a:r>
              <a:rPr lang="en-US" sz="2999">
                <a:solidFill>
                  <a:srgbClr val="000000"/>
                </a:solidFill>
                <a:latin typeface="Canva Sans"/>
                <a:ea typeface="Canva Sans"/>
                <a:cs typeface="Canva Sans"/>
                <a:sym typeface="Canva Sans"/>
              </a:rPr>
              <a:t>Nếu terminal: Return utility.</a:t>
            </a:r>
          </a:p>
          <a:p>
            <a:pPr algn="l" marL="1943081" indent="-485770" lvl="3">
              <a:lnSpc>
                <a:spcPts val="4199"/>
              </a:lnSpc>
              <a:spcBef>
                <a:spcPct val="0"/>
              </a:spcBef>
              <a:buFont typeface="Arial"/>
              <a:buChar char="￭"/>
            </a:pPr>
            <a:r>
              <a:rPr lang="en-US" sz="2999">
                <a:solidFill>
                  <a:srgbClr val="000000"/>
                </a:solidFill>
                <a:latin typeface="Canva Sans"/>
                <a:ea typeface="Canva Sans"/>
                <a:cs typeface="Canva Sans"/>
                <a:sym typeface="Canva Sans"/>
              </a:rPr>
              <a:t>Khởi tạo v = -∞. Với mỗi action a: Gọi min_value(result(state, player, a)), cập nhật nếu v2 &gt; v. Return v, move tốt nhất.</a:t>
            </a:r>
          </a:p>
          <a:p>
            <a:pPr algn="l" marL="1295387" indent="-431796" lvl="2">
              <a:lnSpc>
                <a:spcPts val="4199"/>
              </a:lnSpc>
              <a:spcBef>
                <a:spcPct val="0"/>
              </a:spcBef>
              <a:buFont typeface="Arial"/>
              <a:buChar char="⚬"/>
            </a:pPr>
            <a:r>
              <a:rPr lang="en-US" sz="2999">
                <a:solidFill>
                  <a:srgbClr val="000000"/>
                </a:solidFill>
                <a:latin typeface="Canva Sans"/>
                <a:ea typeface="Canva Sans"/>
                <a:cs typeface="Canva Sans"/>
                <a:sym typeface="Canva Sans"/>
              </a:rPr>
              <a:t>min_value(state, player): </a:t>
            </a:r>
          </a:p>
          <a:p>
            <a:pPr algn="l" marL="1943081" indent="-485770" lvl="3">
              <a:lnSpc>
                <a:spcPts val="4199"/>
              </a:lnSpc>
              <a:spcBef>
                <a:spcPct val="0"/>
              </a:spcBef>
              <a:buFont typeface="Arial"/>
              <a:buChar char="￭"/>
            </a:pPr>
            <a:r>
              <a:rPr lang="en-US" sz="2999">
                <a:solidFill>
                  <a:srgbClr val="000000"/>
                </a:solidFill>
                <a:latin typeface="Canva Sans"/>
                <a:ea typeface="Canva Sans"/>
                <a:cs typeface="Canva Sans"/>
                <a:sym typeface="Canva Sans"/>
              </a:rPr>
              <a:t>Nếu terminal: Return utility.</a:t>
            </a:r>
          </a:p>
          <a:p>
            <a:pPr algn="l" marL="1943081" indent="-485770" lvl="3">
              <a:lnSpc>
                <a:spcPts val="4199"/>
              </a:lnSpc>
              <a:spcBef>
                <a:spcPct val="0"/>
              </a:spcBef>
              <a:buFont typeface="Arial"/>
              <a:buChar char="￭"/>
            </a:pPr>
            <a:r>
              <a:rPr lang="en-US" sz="2999">
                <a:solidFill>
                  <a:srgbClr val="000000"/>
                </a:solidFill>
                <a:latin typeface="Canva Sans"/>
                <a:ea typeface="Canva Sans"/>
                <a:cs typeface="Canva Sans"/>
                <a:sym typeface="Canva Sans"/>
              </a:rPr>
              <a:t>Khởi tạo v = +∞. Với mỗi action a: Gọi max_value(result(state, other(player), a)), cập nhật nếu v2 &lt; v. Return v, move tốt nhất.</a:t>
            </a:r>
          </a:p>
          <a:p>
            <a:pPr algn="l" marL="1295387" indent="-431796" lvl="2">
              <a:lnSpc>
                <a:spcPts val="4199"/>
              </a:lnSpc>
              <a:spcBef>
                <a:spcPct val="0"/>
              </a:spcBef>
              <a:buFont typeface="Arial"/>
              <a:buChar char="⚬"/>
            </a:pPr>
            <a:r>
              <a:rPr lang="en-US" sz="2999">
                <a:solidFill>
                  <a:srgbClr val="000000"/>
                </a:solidFill>
                <a:latin typeface="Canva Sans"/>
                <a:ea typeface="Canva Sans"/>
                <a:cs typeface="Canva Sans"/>
                <a:sym typeface="Canva Sans"/>
              </a:rPr>
              <a:t>Đếm nodes bằng global COUNT.</a:t>
            </a:r>
          </a:p>
          <a:p>
            <a:pPr algn="l">
              <a:lnSpc>
                <a:spcPts val="4199"/>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10969" y="285748"/>
            <a:ext cx="8243101" cy="613411"/>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Canva Sans"/>
                <a:ea typeface="Canva Sans"/>
                <a:cs typeface="Canva Sans"/>
                <a:sym typeface="Canva Sans"/>
              </a:rPr>
              <a:t>Cách hoạt động của các thuật toán:</a:t>
            </a:r>
          </a:p>
        </p:txBody>
      </p:sp>
      <p:sp>
        <p:nvSpPr>
          <p:cNvPr name="TextBox 3" id="3"/>
          <p:cNvSpPr txBox="true"/>
          <p:nvPr/>
        </p:nvSpPr>
        <p:spPr>
          <a:xfrm rot="0">
            <a:off x="510969" y="1574563"/>
            <a:ext cx="17777031" cy="4162426"/>
          </a:xfrm>
          <a:prstGeom prst="rect">
            <a:avLst/>
          </a:prstGeom>
        </p:spPr>
        <p:txBody>
          <a:bodyPr anchor="t" rtlCol="false" tIns="0" lIns="0" bIns="0" rIns="0">
            <a:spAutoFit/>
          </a:bodyPr>
          <a:lstStyle/>
          <a:p>
            <a:pPr algn="l">
              <a:lnSpc>
                <a:spcPts val="4199"/>
              </a:lnSpc>
            </a:pPr>
            <a:r>
              <a:rPr lang="en-US" sz="2999">
                <a:solidFill>
                  <a:srgbClr val="000000"/>
                </a:solidFill>
                <a:latin typeface="Canva Sans"/>
                <a:ea typeface="Canva Sans"/>
                <a:cs typeface="Canva Sans"/>
                <a:sym typeface="Canva Sans"/>
              </a:rPr>
              <a:t>3. Alpha-Beta Pruning: </a:t>
            </a:r>
          </a:p>
          <a:p>
            <a:pPr algn="l" marL="647694" indent="-323847" lvl="1">
              <a:lnSpc>
                <a:spcPts val="4199"/>
              </a:lnSpc>
              <a:spcBef>
                <a:spcPct val="0"/>
              </a:spcBef>
              <a:buFont typeface="Arial"/>
              <a:buChar char="•"/>
            </a:pPr>
            <a:r>
              <a:rPr lang="en-US" sz="2999">
                <a:solidFill>
                  <a:srgbClr val="000000"/>
                </a:solidFill>
                <a:latin typeface="Canva Sans"/>
                <a:ea typeface="Canva Sans"/>
                <a:cs typeface="Canva Sans"/>
                <a:sym typeface="Canva Sans"/>
              </a:rPr>
              <a:t>T</a:t>
            </a:r>
            <a:r>
              <a:rPr lang="en-US" sz="2999">
                <a:solidFill>
                  <a:srgbClr val="000000"/>
                </a:solidFill>
                <a:latin typeface="Canva Sans"/>
                <a:ea typeface="Canva Sans"/>
                <a:cs typeface="Canva Sans"/>
                <a:sym typeface="Canva Sans"/>
              </a:rPr>
              <a:t>hêm alph</a:t>
            </a:r>
            <a:r>
              <a:rPr lang="en-US" sz="2999">
                <a:solidFill>
                  <a:srgbClr val="000000"/>
                </a:solidFill>
                <a:latin typeface="Canva Sans"/>
                <a:ea typeface="Canva Sans"/>
                <a:cs typeface="Canva Sans"/>
                <a:sym typeface="Canva Sans"/>
              </a:rPr>
              <a:t>a</a:t>
            </a:r>
            <a:r>
              <a:rPr lang="en-US" sz="2999">
                <a:solidFill>
                  <a:srgbClr val="000000"/>
                </a:solidFill>
                <a:latin typeface="Canva Sans"/>
                <a:ea typeface="Canva Sans"/>
                <a:cs typeface="Canva Sans"/>
                <a:sym typeface="Canva Sans"/>
              </a:rPr>
              <a:t> (giá trị Max đảm bảo), beta (giá trị Min đảm bảo).</a:t>
            </a:r>
          </a:p>
          <a:p>
            <a:pPr algn="l" marL="647694" indent="-323847" lvl="1">
              <a:lnSpc>
                <a:spcPts val="4199"/>
              </a:lnSpc>
              <a:spcBef>
                <a:spcPct val="0"/>
              </a:spcBef>
              <a:buFont typeface="Arial"/>
              <a:buChar char="•"/>
            </a:pPr>
            <a:r>
              <a:rPr lang="en-US" sz="2999">
                <a:solidFill>
                  <a:srgbClr val="000000"/>
                </a:solidFill>
                <a:latin typeface="Canva Sans"/>
                <a:ea typeface="Canva Sans"/>
                <a:cs typeface="Canva Sans"/>
                <a:sym typeface="Canva Sans"/>
              </a:rPr>
              <a:t>Tro</a:t>
            </a:r>
            <a:r>
              <a:rPr lang="en-US" sz="2999">
                <a:solidFill>
                  <a:srgbClr val="000000"/>
                </a:solidFill>
                <a:latin typeface="Canva Sans"/>
                <a:ea typeface="Canva Sans"/>
                <a:cs typeface="Canva Sans"/>
                <a:sym typeface="Canva Sans"/>
              </a:rPr>
              <a:t>ng max_value: Truyền alpha, beta; nếu v &gt;= beta, prune (return v, None). Cập nhật alpha = max(alpha, v).</a:t>
            </a:r>
          </a:p>
          <a:p>
            <a:pPr algn="l" marL="647694" indent="-323847" lvl="1">
              <a:lnSpc>
                <a:spcPts val="4199"/>
              </a:lnSpc>
              <a:spcBef>
                <a:spcPct val="0"/>
              </a:spcBef>
              <a:buFont typeface="Arial"/>
              <a:buChar char="•"/>
            </a:pPr>
            <a:r>
              <a:rPr lang="en-US" sz="2999">
                <a:solidFill>
                  <a:srgbClr val="000000"/>
                </a:solidFill>
                <a:latin typeface="Canva Sans"/>
                <a:ea typeface="Canva Sans"/>
                <a:cs typeface="Canva Sans"/>
                <a:sym typeface="Canva Sans"/>
              </a:rPr>
              <a:t>Trong min_value: Truyền alpha, beta; nếu v &lt;= alpha, prune (return v, None). Cập nhật beta = min(beta, v).</a:t>
            </a:r>
          </a:p>
          <a:p>
            <a:pPr algn="l" marL="647694" indent="-323847" lvl="1">
              <a:lnSpc>
                <a:spcPts val="4199"/>
              </a:lnSpc>
              <a:spcBef>
                <a:spcPct val="0"/>
              </a:spcBef>
              <a:buFont typeface="Arial"/>
              <a:buChar char="•"/>
            </a:pPr>
            <a:r>
              <a:rPr lang="en-US" sz="2999">
                <a:solidFill>
                  <a:srgbClr val="000000"/>
                </a:solidFill>
                <a:latin typeface="Canva Sans"/>
                <a:ea typeface="Canva Sans"/>
                <a:cs typeface="Canva Sans"/>
                <a:sym typeface="Canva Sans"/>
              </a:rPr>
              <a:t>Prune khi nhánh không thể cải thiện quyết định gốc.</a:t>
            </a:r>
          </a:p>
          <a:p>
            <a:pPr algn="l">
              <a:lnSpc>
                <a:spcPts val="4199"/>
              </a:lnSpc>
              <a:spcBef>
                <a:spcPct val="0"/>
              </a:spcBef>
            </a:pPr>
          </a:p>
        </p:txBody>
      </p:sp>
      <p:sp>
        <p:nvSpPr>
          <p:cNvPr name="TextBox 4" id="4"/>
          <p:cNvSpPr txBox="true"/>
          <p:nvPr/>
        </p:nvSpPr>
        <p:spPr>
          <a:xfrm rot="0">
            <a:off x="255485" y="5553670"/>
            <a:ext cx="17777031" cy="2066926"/>
          </a:xfrm>
          <a:prstGeom prst="rect">
            <a:avLst/>
          </a:prstGeom>
        </p:spPr>
        <p:txBody>
          <a:bodyPr anchor="t" rtlCol="false" tIns="0" lIns="0" bIns="0" rIns="0">
            <a:spAutoFit/>
          </a:bodyPr>
          <a:lstStyle/>
          <a:p>
            <a:pPr algn="l">
              <a:lnSpc>
                <a:spcPts val="4199"/>
              </a:lnSpc>
            </a:pPr>
            <a:r>
              <a:rPr lang="en-US" sz="2999">
                <a:solidFill>
                  <a:srgbClr val="000000"/>
                </a:solidFill>
                <a:latin typeface="Canva Sans"/>
                <a:ea typeface="Canva Sans"/>
                <a:cs typeface="Canva Sans"/>
                <a:sym typeface="Canva Sans"/>
              </a:rPr>
              <a:t>4. Move Ordering: </a:t>
            </a:r>
          </a:p>
          <a:p>
            <a:pPr algn="l" marL="1295387" indent="-431796" lvl="2">
              <a:lnSpc>
                <a:spcPts val="4199"/>
              </a:lnSpc>
              <a:spcBef>
                <a:spcPct val="0"/>
              </a:spcBef>
              <a:buFont typeface="Arial"/>
              <a:buChar char="⚬"/>
            </a:pPr>
            <a:r>
              <a:rPr lang="en-US" sz="2999">
                <a:solidFill>
                  <a:srgbClr val="000000"/>
                </a:solidFill>
                <a:latin typeface="Canva Sans"/>
                <a:ea typeface="Canva Sans"/>
                <a:cs typeface="Canva Sans"/>
                <a:sym typeface="Canva Sans"/>
              </a:rPr>
              <a:t>Sử</a:t>
            </a:r>
            <a:r>
              <a:rPr lang="en-US" sz="2999">
                <a:solidFill>
                  <a:srgbClr val="000000"/>
                </a:solidFill>
                <a:latin typeface="Canva Sans"/>
                <a:ea typeface="Canva Sans"/>
                <a:cs typeface="Canva Sans"/>
                <a:sym typeface="Canva Sans"/>
              </a:rPr>
              <a:t>a</a:t>
            </a:r>
            <a:r>
              <a:rPr lang="en-US" sz="2999">
                <a:solidFill>
                  <a:srgbClr val="000000"/>
                </a:solidFill>
                <a:latin typeface="Canva Sans"/>
                <a:ea typeface="Canva Sans"/>
                <a:cs typeface="Canva Sans"/>
                <a:sym typeface="Canva Sans"/>
              </a:rPr>
              <a:t> actions(board): Ưu tiên center (4: priority 2), corners (0,2,6,8: 1), edges (1,3,5,7: 0). Sort descending để thử good moves trước → pruning sớm hơn (beta cutoff nhanh).</a:t>
            </a:r>
          </a:p>
          <a:p>
            <a:pPr algn="l">
              <a:lnSpc>
                <a:spcPts val="4199"/>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3117614"/>
            <a:ext cx="11435126" cy="6138399"/>
          </a:xfrm>
          <a:custGeom>
            <a:avLst/>
            <a:gdLst/>
            <a:ahLst/>
            <a:cxnLst/>
            <a:rect r="r" b="b" t="t" l="l"/>
            <a:pathLst>
              <a:path h="6138399" w="11435126">
                <a:moveTo>
                  <a:pt x="0" y="0"/>
                </a:moveTo>
                <a:lnTo>
                  <a:pt x="11435126" y="0"/>
                </a:lnTo>
                <a:lnTo>
                  <a:pt x="11435126" y="6138399"/>
                </a:lnTo>
                <a:lnTo>
                  <a:pt x="0" y="6138399"/>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574563"/>
            <a:ext cx="13139262" cy="1543051"/>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1:</a:t>
            </a:r>
            <a:r>
              <a:rPr lang="en-US" sz="2999">
                <a:solidFill>
                  <a:srgbClr val="000000"/>
                </a:solidFill>
                <a:latin typeface="Canva Sans"/>
                <a:ea typeface="Canva Sans"/>
                <a:cs typeface="Canva Sans"/>
                <a:sym typeface="Canva Sans"/>
              </a:rPr>
              <a:t> Minimax trên board gần thắng (board[0]='x', [1]='o', [3]='o', [4]='x')</a:t>
            </a:r>
          </a:p>
          <a:p>
            <a:pPr algn="l">
              <a:lnSpc>
                <a:spcPts val="4199"/>
              </a:lnSpc>
              <a:spcBef>
                <a:spcPct val="0"/>
              </a:spcBef>
            </a:pPr>
            <a:r>
              <a:rPr lang="en-US" sz="2999">
                <a:solidFill>
                  <a:srgbClr val="000000"/>
                </a:solidFill>
                <a:latin typeface="Canva Sans"/>
                <a:ea typeface="Canva Sans"/>
                <a:cs typeface="Canva Sans"/>
                <a:sym typeface="Canva Sans"/>
              </a:rPr>
              <a:t>Code test:</a:t>
            </a:r>
          </a:p>
          <a:p>
            <a:pPr algn="l">
              <a:lnSpc>
                <a:spcPts val="4199"/>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330326"/>
            <a:ext cx="11301259" cy="6229819"/>
          </a:xfrm>
          <a:custGeom>
            <a:avLst/>
            <a:gdLst/>
            <a:ahLst/>
            <a:cxnLst/>
            <a:rect r="r" b="b" t="t" l="l"/>
            <a:pathLst>
              <a:path h="6229819" w="11301259">
                <a:moveTo>
                  <a:pt x="0" y="0"/>
                </a:moveTo>
                <a:lnTo>
                  <a:pt x="11301259" y="0"/>
                </a:lnTo>
                <a:lnTo>
                  <a:pt x="11301259" y="6229819"/>
                </a:lnTo>
                <a:lnTo>
                  <a:pt x="0" y="6229819"/>
                </a:lnTo>
                <a:lnTo>
                  <a:pt x="0" y="0"/>
                </a:lnTo>
                <a:close/>
              </a:path>
            </a:pathLst>
          </a:custGeom>
          <a:blipFill>
            <a:blip r:embed="rId2"/>
            <a:stretch>
              <a:fillRect l="0" t="0" r="0" b="0"/>
            </a:stretch>
          </a:blipFill>
        </p:spPr>
      </p:sp>
      <p:sp>
        <p:nvSpPr>
          <p:cNvPr name="TextBox 3" id="3"/>
          <p:cNvSpPr txBox="true"/>
          <p:nvPr/>
        </p:nvSpPr>
        <p:spPr>
          <a:xfrm rot="0">
            <a:off x="1028700" y="349249"/>
            <a:ext cx="1896189" cy="679451"/>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Canva Sans"/>
                <a:ea typeface="Canva Sans"/>
                <a:cs typeface="Canva Sans"/>
                <a:sym typeface="Canva Sans"/>
              </a:rPr>
              <a:t>O</a:t>
            </a:r>
            <a:r>
              <a:rPr lang="en-US" sz="3999">
                <a:solidFill>
                  <a:srgbClr val="000000"/>
                </a:solidFill>
                <a:latin typeface="Canva Sans"/>
                <a:ea typeface="Canva Sans"/>
                <a:cs typeface="Canva Sans"/>
                <a:sym typeface="Canva Sans"/>
              </a:rPr>
              <a:t>utput:</a:t>
            </a:r>
          </a:p>
        </p:txBody>
      </p:sp>
      <p:sp>
        <p:nvSpPr>
          <p:cNvPr name="TextBox 4" id="4"/>
          <p:cNvSpPr txBox="true"/>
          <p:nvPr/>
        </p:nvSpPr>
        <p:spPr>
          <a:xfrm rot="0">
            <a:off x="495221" y="7798270"/>
            <a:ext cx="17567679" cy="2380616"/>
          </a:xfrm>
          <a:prstGeom prst="rect">
            <a:avLst/>
          </a:prstGeom>
        </p:spPr>
        <p:txBody>
          <a:bodyPr anchor="t" rtlCol="false" tIns="0" lIns="0" bIns="0" rIns="0">
            <a:spAutoFit/>
          </a:bodyPr>
          <a:lstStyle/>
          <a:p>
            <a:pPr algn="l">
              <a:lnSpc>
                <a:spcPts val="4759"/>
              </a:lnSpc>
              <a:spcBef>
                <a:spcPct val="0"/>
              </a:spcBef>
            </a:pPr>
            <a:r>
              <a:rPr lang="en-US" sz="3399">
                <a:solidFill>
                  <a:srgbClr val="000000"/>
                </a:solidFill>
                <a:latin typeface="Canva Sans"/>
                <a:ea typeface="Canva Sans"/>
                <a:cs typeface="Canva Sans"/>
                <a:sym typeface="Canva Sans"/>
              </a:rPr>
              <a:t>Giải thích: Chọn m</a:t>
            </a:r>
            <a:r>
              <a:rPr lang="en-US" sz="3399">
                <a:solidFill>
                  <a:srgbClr val="000000"/>
                </a:solidFill>
                <a:latin typeface="Canva Sans"/>
                <a:ea typeface="Canva Sans"/>
                <a:cs typeface="Canva Sans"/>
                <a:sym typeface="Canva Sans"/>
              </a:rPr>
              <a:t>ove 2 (hàng trên giữa) để win (+1). 190 nodes (khám phá ~1/2 cây nhỏ). Thời gian ~5ms. Lưu ý: DFS chọn move 2 thay vì 8 (ngắn hơn), vì không discount depth.</a:t>
            </a:r>
          </a:p>
          <a:p>
            <a:pPr algn="l">
              <a:lnSpc>
                <a:spcPts val="4759"/>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87962" y="2591793"/>
            <a:ext cx="9925208" cy="5644962"/>
          </a:xfrm>
          <a:custGeom>
            <a:avLst/>
            <a:gdLst/>
            <a:ahLst/>
            <a:cxnLst/>
            <a:rect r="r" b="b" t="t" l="l"/>
            <a:pathLst>
              <a:path h="5644962" w="9925208">
                <a:moveTo>
                  <a:pt x="0" y="0"/>
                </a:moveTo>
                <a:lnTo>
                  <a:pt x="9925208" y="0"/>
                </a:lnTo>
                <a:lnTo>
                  <a:pt x="9925208" y="5644962"/>
                </a:lnTo>
                <a:lnTo>
                  <a:pt x="0" y="5644962"/>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101130"/>
            <a:ext cx="13992582"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2:</a:t>
            </a:r>
            <a:r>
              <a:rPr lang="en-US" sz="2999">
                <a:solidFill>
                  <a:srgbClr val="000000"/>
                </a:solidFill>
                <a:latin typeface="Canva Sans"/>
                <a:ea typeface="Canva Sans"/>
                <a:cs typeface="Canva Sans"/>
                <a:sym typeface="Canva Sans"/>
              </a:rPr>
              <a:t> Alpha-Beta trên board có thể draw (board[0]='x', [1]='o', [2]='x', [4]='o')</a:t>
            </a:r>
          </a:p>
          <a:p>
            <a:pPr algn="l">
              <a:lnSpc>
                <a:spcPts val="4199"/>
              </a:lnSpc>
              <a:spcBef>
                <a:spcPct val="0"/>
              </a:spcBef>
            </a:pPr>
          </a:p>
        </p:txBody>
      </p:sp>
      <p:sp>
        <p:nvSpPr>
          <p:cNvPr name="TextBox 5" id="5"/>
          <p:cNvSpPr txBox="true"/>
          <p:nvPr/>
        </p:nvSpPr>
        <p:spPr>
          <a:xfrm rot="0">
            <a:off x="520494" y="1848843"/>
            <a:ext cx="8362355"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Code test: Tương tự, dùng alpha_beta_search.</a:t>
            </a:r>
          </a:p>
        </p:txBody>
      </p:sp>
      <p:sp>
        <p:nvSpPr>
          <p:cNvPr name="TextBox 6" id="6"/>
          <p:cNvSpPr txBox="true"/>
          <p:nvPr/>
        </p:nvSpPr>
        <p:spPr>
          <a:xfrm rot="0">
            <a:off x="510969" y="2534643"/>
            <a:ext cx="1422321" cy="514350"/>
          </a:xfrm>
          <a:prstGeom prst="rect">
            <a:avLst/>
          </a:prstGeom>
        </p:spPr>
        <p:txBody>
          <a:bodyPr anchor="t" rtlCol="false" tIns="0" lIns="0" bIns="0" rIns="0">
            <a:spAutoFit/>
          </a:bodyPr>
          <a:lstStyle/>
          <a:p>
            <a:pPr algn="ctr">
              <a:lnSpc>
                <a:spcPts val="4200"/>
              </a:lnSpc>
              <a:spcBef>
                <a:spcPct val="0"/>
              </a:spcBef>
            </a:pPr>
            <a:r>
              <a:rPr lang="en-US" sz="3000">
                <a:solidFill>
                  <a:srgbClr val="000000"/>
                </a:solidFill>
                <a:latin typeface="Canva Sans"/>
                <a:ea typeface="Canva Sans"/>
                <a:cs typeface="Canva Sans"/>
                <a:sym typeface="Canva Sans"/>
              </a:rPr>
              <a:t>Output:</a:t>
            </a:r>
          </a:p>
        </p:txBody>
      </p:sp>
      <p:sp>
        <p:nvSpPr>
          <p:cNvPr name="TextBox 7" id="7"/>
          <p:cNvSpPr txBox="true"/>
          <p:nvPr/>
        </p:nvSpPr>
        <p:spPr>
          <a:xfrm rot="0">
            <a:off x="765341" y="8705850"/>
            <a:ext cx="16757317" cy="1047750"/>
          </a:xfrm>
          <a:prstGeom prst="rect">
            <a:avLst/>
          </a:prstGeom>
        </p:spPr>
        <p:txBody>
          <a:bodyPr anchor="t" rtlCol="false" tIns="0" lIns="0" bIns="0" rIns="0">
            <a:spAutoFit/>
          </a:bodyPr>
          <a:lstStyle/>
          <a:p>
            <a:pPr algn="l">
              <a:lnSpc>
                <a:spcPts val="4200"/>
              </a:lnSpc>
              <a:spcBef>
                <a:spcPct val="0"/>
              </a:spcBef>
            </a:pPr>
            <a:r>
              <a:rPr lang="en-US" sz="3000">
                <a:solidFill>
                  <a:srgbClr val="000000"/>
                </a:solidFill>
                <a:latin typeface="Canva Sans"/>
                <a:ea typeface="Canva Sans"/>
                <a:cs typeface="Canva Sans"/>
                <a:sym typeface="Canva Sans"/>
              </a:rPr>
              <a:t>Giải thích: Chọn 7 để force draw (0). Pruning giảm nodes đáng kể so với minimax (không show số cụ thể ở test này, nhưng notebook nhấn mạnh nhanh hơn).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54501" y="1896468"/>
            <a:ext cx="10884092" cy="6666507"/>
          </a:xfrm>
          <a:custGeom>
            <a:avLst/>
            <a:gdLst/>
            <a:ahLst/>
            <a:cxnLst/>
            <a:rect r="r" b="b" t="t" l="l"/>
            <a:pathLst>
              <a:path h="6666507" w="10884092">
                <a:moveTo>
                  <a:pt x="0" y="0"/>
                </a:moveTo>
                <a:lnTo>
                  <a:pt x="10884093" y="0"/>
                </a:lnTo>
                <a:lnTo>
                  <a:pt x="10884093" y="6666506"/>
                </a:lnTo>
                <a:lnTo>
                  <a:pt x="0" y="6666506"/>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101130"/>
            <a:ext cx="7476054"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3:</a:t>
            </a:r>
            <a:r>
              <a:rPr lang="en-US" sz="2999">
                <a:solidFill>
                  <a:srgbClr val="000000"/>
                </a:solidFill>
                <a:latin typeface="Canva Sans"/>
                <a:ea typeface="Canva Sans"/>
                <a:cs typeface="Canva Sans"/>
                <a:sym typeface="Canva Sans"/>
              </a:rPr>
              <a:t> Move Ordering trên empty board</a:t>
            </a:r>
          </a:p>
          <a:p>
            <a:pPr algn="l">
              <a:lnSpc>
                <a:spcPts val="4199"/>
              </a:lnSpc>
              <a:spcBef>
                <a:spcPct val="0"/>
              </a:spcBef>
            </a:pPr>
          </a:p>
        </p:txBody>
      </p:sp>
      <p:sp>
        <p:nvSpPr>
          <p:cNvPr name="TextBox 5" id="5"/>
          <p:cNvSpPr txBox="true"/>
          <p:nvPr/>
        </p:nvSpPr>
        <p:spPr>
          <a:xfrm rot="0">
            <a:off x="520494" y="1848843"/>
            <a:ext cx="1971556"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Code test: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31677" y="1828938"/>
            <a:ext cx="10808300" cy="5892427"/>
          </a:xfrm>
          <a:custGeom>
            <a:avLst/>
            <a:gdLst/>
            <a:ahLst/>
            <a:cxnLst/>
            <a:rect r="r" b="b" t="t" l="l"/>
            <a:pathLst>
              <a:path h="5892427" w="10808300">
                <a:moveTo>
                  <a:pt x="0" y="0"/>
                </a:moveTo>
                <a:lnTo>
                  <a:pt x="10808300" y="0"/>
                </a:lnTo>
                <a:lnTo>
                  <a:pt x="10808300" y="5892426"/>
                </a:lnTo>
                <a:lnTo>
                  <a:pt x="0" y="5892426"/>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101130"/>
            <a:ext cx="7476054"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3:</a:t>
            </a:r>
            <a:r>
              <a:rPr lang="en-US" sz="2999">
                <a:solidFill>
                  <a:srgbClr val="000000"/>
                </a:solidFill>
                <a:latin typeface="Canva Sans"/>
                <a:ea typeface="Canva Sans"/>
                <a:cs typeface="Canva Sans"/>
                <a:sym typeface="Canva Sans"/>
              </a:rPr>
              <a:t> Move Ordering trên empty board</a:t>
            </a:r>
          </a:p>
          <a:p>
            <a:pPr algn="l">
              <a:lnSpc>
                <a:spcPts val="4199"/>
              </a:lnSpc>
              <a:spcBef>
                <a:spcPct val="0"/>
              </a:spcBef>
            </a:pPr>
          </a:p>
        </p:txBody>
      </p:sp>
      <p:sp>
        <p:nvSpPr>
          <p:cNvPr name="TextBox 5" id="5"/>
          <p:cNvSpPr txBox="true"/>
          <p:nvPr/>
        </p:nvSpPr>
        <p:spPr>
          <a:xfrm rot="0">
            <a:off x="510969" y="1781313"/>
            <a:ext cx="1421963" cy="1019176"/>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Ou</a:t>
            </a:r>
            <a:r>
              <a:rPr lang="en-US" sz="2999">
                <a:solidFill>
                  <a:srgbClr val="000000"/>
                </a:solidFill>
                <a:latin typeface="Canva Sans"/>
                <a:ea typeface="Canva Sans"/>
                <a:cs typeface="Canva Sans"/>
                <a:sym typeface="Canva Sans"/>
              </a:rPr>
              <a:t>tput:</a:t>
            </a:r>
          </a:p>
          <a:p>
            <a:pPr algn="ctr">
              <a:lnSpc>
                <a:spcPts val="4199"/>
              </a:lnSpc>
              <a:spcBef>
                <a:spcPct val="0"/>
              </a:spcBef>
            </a:pPr>
          </a:p>
        </p:txBody>
      </p:sp>
      <p:sp>
        <p:nvSpPr>
          <p:cNvPr name="TextBox 6" id="6"/>
          <p:cNvSpPr txBox="true"/>
          <p:nvPr/>
        </p:nvSpPr>
        <p:spPr>
          <a:xfrm rot="0">
            <a:off x="691049" y="8239124"/>
            <a:ext cx="17259300"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Giải thích: Ưu tiên center (4 đầu), corners (8,6,2,0), edges cuối. Giúp alpha-beta prune sớm bằng cách thử good moves trước.</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50015" y="2867045"/>
            <a:ext cx="11104294" cy="4552911"/>
          </a:xfrm>
          <a:custGeom>
            <a:avLst/>
            <a:gdLst/>
            <a:ahLst/>
            <a:cxnLst/>
            <a:rect r="r" b="b" t="t" l="l"/>
            <a:pathLst>
              <a:path h="4552911" w="11104294">
                <a:moveTo>
                  <a:pt x="0" y="0"/>
                </a:moveTo>
                <a:lnTo>
                  <a:pt x="11104294" y="0"/>
                </a:lnTo>
                <a:lnTo>
                  <a:pt x="11104294" y="4552910"/>
                </a:lnTo>
                <a:lnTo>
                  <a:pt x="0" y="4552910"/>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101130"/>
            <a:ext cx="9911596"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4:</a:t>
            </a:r>
            <a:r>
              <a:rPr lang="en-US" sz="2999">
                <a:solidFill>
                  <a:srgbClr val="000000"/>
                </a:solidFill>
                <a:latin typeface="Canva Sans"/>
                <a:ea typeface="Canva Sans"/>
                <a:cs typeface="Canva Sans"/>
                <a:sym typeface="Canva Sans"/>
              </a:rPr>
              <a:t> Alpha-Beta trên empty board (không ordering)</a:t>
            </a:r>
          </a:p>
          <a:p>
            <a:pPr algn="l">
              <a:lnSpc>
                <a:spcPts val="4199"/>
              </a:lnSpc>
              <a:spcBef>
                <a:spcPct val="0"/>
              </a:spcBef>
            </a:pPr>
          </a:p>
        </p:txBody>
      </p:sp>
      <p:sp>
        <p:nvSpPr>
          <p:cNvPr name="TextBox 5" id="5"/>
          <p:cNvSpPr txBox="true"/>
          <p:nvPr/>
        </p:nvSpPr>
        <p:spPr>
          <a:xfrm rot="0">
            <a:off x="510969" y="1781313"/>
            <a:ext cx="1878092" cy="1019176"/>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Code </a:t>
            </a:r>
            <a:r>
              <a:rPr lang="en-US" sz="2999">
                <a:solidFill>
                  <a:srgbClr val="000000"/>
                </a:solidFill>
                <a:latin typeface="Canva Sans"/>
                <a:ea typeface="Canva Sans"/>
                <a:cs typeface="Canva Sans"/>
                <a:sym typeface="Canva Sans"/>
              </a:rPr>
              <a:t>test:</a:t>
            </a:r>
          </a:p>
          <a:p>
            <a:pPr algn="ctr">
              <a:lnSpc>
                <a:spcPts val="4199"/>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35399" y="1895494"/>
            <a:ext cx="11301259" cy="6032047"/>
          </a:xfrm>
          <a:custGeom>
            <a:avLst/>
            <a:gdLst/>
            <a:ahLst/>
            <a:cxnLst/>
            <a:rect r="r" b="b" t="t" l="l"/>
            <a:pathLst>
              <a:path h="6032047" w="11301259">
                <a:moveTo>
                  <a:pt x="0" y="0"/>
                </a:moveTo>
                <a:lnTo>
                  <a:pt x="11301259" y="0"/>
                </a:lnTo>
                <a:lnTo>
                  <a:pt x="11301259" y="6032047"/>
                </a:lnTo>
                <a:lnTo>
                  <a:pt x="0" y="6032047"/>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101130"/>
            <a:ext cx="9911596"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4:</a:t>
            </a:r>
            <a:r>
              <a:rPr lang="en-US" sz="2999">
                <a:solidFill>
                  <a:srgbClr val="000000"/>
                </a:solidFill>
                <a:latin typeface="Canva Sans"/>
                <a:ea typeface="Canva Sans"/>
                <a:cs typeface="Canva Sans"/>
                <a:sym typeface="Canva Sans"/>
              </a:rPr>
              <a:t> Alpha-Beta trên empty board (không ordering)</a:t>
            </a:r>
          </a:p>
          <a:p>
            <a:pPr algn="l">
              <a:lnSpc>
                <a:spcPts val="4199"/>
              </a:lnSpc>
              <a:spcBef>
                <a:spcPct val="0"/>
              </a:spcBef>
            </a:pPr>
          </a:p>
        </p:txBody>
      </p:sp>
      <p:sp>
        <p:nvSpPr>
          <p:cNvPr name="TextBox 5" id="5"/>
          <p:cNvSpPr txBox="true"/>
          <p:nvPr/>
        </p:nvSpPr>
        <p:spPr>
          <a:xfrm rot="0">
            <a:off x="520494" y="1847869"/>
            <a:ext cx="1421963" cy="1019176"/>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Ou</a:t>
            </a:r>
            <a:r>
              <a:rPr lang="en-US" sz="2999">
                <a:solidFill>
                  <a:srgbClr val="000000"/>
                </a:solidFill>
                <a:latin typeface="Canva Sans"/>
                <a:ea typeface="Canva Sans"/>
                <a:cs typeface="Canva Sans"/>
                <a:sym typeface="Canva Sans"/>
              </a:rPr>
              <a:t>tput:</a:t>
            </a:r>
          </a:p>
          <a:p>
            <a:pPr algn="ctr">
              <a:lnSpc>
                <a:spcPts val="4199"/>
              </a:lnSpc>
              <a:spcBef>
                <a:spcPct val="0"/>
              </a:spcBef>
            </a:pPr>
          </a:p>
        </p:txBody>
      </p:sp>
      <p:sp>
        <p:nvSpPr>
          <p:cNvPr name="TextBox 6" id="6"/>
          <p:cNvSpPr txBox="true"/>
          <p:nvPr/>
        </p:nvSpPr>
        <p:spPr>
          <a:xfrm rot="0">
            <a:off x="668539" y="8239124"/>
            <a:ext cx="17259300"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Giải thích: Chọn 4 (center) để force draw (0). 18297 nodes (vẫn lớn, ~660ms), vì alpha-beta chưa ordering.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74168" y="2367956"/>
            <a:ext cx="9752797" cy="5668813"/>
          </a:xfrm>
          <a:custGeom>
            <a:avLst/>
            <a:gdLst/>
            <a:ahLst/>
            <a:cxnLst/>
            <a:rect r="r" b="b" t="t" l="l"/>
            <a:pathLst>
              <a:path h="5668813" w="9752797">
                <a:moveTo>
                  <a:pt x="0" y="0"/>
                </a:moveTo>
                <a:lnTo>
                  <a:pt x="9752797" y="0"/>
                </a:lnTo>
                <a:lnTo>
                  <a:pt x="9752797" y="5668813"/>
                </a:lnTo>
                <a:lnTo>
                  <a:pt x="0" y="5668813"/>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101130"/>
            <a:ext cx="9244251"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5:</a:t>
            </a:r>
            <a:r>
              <a:rPr lang="en-US" sz="2999">
                <a:solidFill>
                  <a:srgbClr val="000000"/>
                </a:solidFill>
                <a:latin typeface="Canva Sans"/>
                <a:ea typeface="Canva Sans"/>
                <a:cs typeface="Canva Sans"/>
                <a:sym typeface="Canva Sans"/>
              </a:rPr>
              <a:t> Alpha-Beta trên empty board (có ordering)</a:t>
            </a:r>
          </a:p>
          <a:p>
            <a:pPr algn="l">
              <a:lnSpc>
                <a:spcPts val="4199"/>
              </a:lnSpc>
              <a:spcBef>
                <a:spcPct val="0"/>
              </a:spcBef>
            </a:pPr>
          </a:p>
        </p:txBody>
      </p:sp>
      <p:sp>
        <p:nvSpPr>
          <p:cNvPr name="TextBox 5" id="5"/>
          <p:cNvSpPr txBox="true"/>
          <p:nvPr/>
        </p:nvSpPr>
        <p:spPr>
          <a:xfrm rot="0">
            <a:off x="142929" y="1736292"/>
            <a:ext cx="9999381" cy="1019176"/>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Code </a:t>
            </a:r>
            <a:r>
              <a:rPr lang="en-US" sz="2999">
                <a:solidFill>
                  <a:srgbClr val="000000"/>
                </a:solidFill>
                <a:latin typeface="Canva Sans"/>
                <a:ea typeface="Canva Sans"/>
                <a:cs typeface="Canva Sans"/>
                <a:sym typeface="Canva Sans"/>
              </a:rPr>
              <a:t>test: Tương tự test 4, sau khi override actions.</a:t>
            </a:r>
          </a:p>
          <a:p>
            <a:pPr algn="ctr">
              <a:lnSpc>
                <a:spcPts val="4199"/>
              </a:lnSpc>
              <a:spcBef>
                <a:spcPct val="0"/>
              </a:spcBef>
            </a:pPr>
          </a:p>
        </p:txBody>
      </p:sp>
      <p:sp>
        <p:nvSpPr>
          <p:cNvPr name="TextBox 6" id="6"/>
          <p:cNvSpPr txBox="true"/>
          <p:nvPr/>
        </p:nvSpPr>
        <p:spPr>
          <a:xfrm rot="0">
            <a:off x="520494" y="2320331"/>
            <a:ext cx="1421963"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Output:</a:t>
            </a:r>
          </a:p>
        </p:txBody>
      </p:sp>
      <p:sp>
        <p:nvSpPr>
          <p:cNvPr name="TextBox 7" id="7"/>
          <p:cNvSpPr txBox="true"/>
          <p:nvPr/>
        </p:nvSpPr>
        <p:spPr>
          <a:xfrm rot="0">
            <a:off x="691049" y="8239124"/>
            <a:ext cx="17259300"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Giải thích: Giống move/value, nhưng chỉ 7275 nodes (~202ms) – giảm ~60% nhờ ordering tăng pruning (beta cutoff sớm).</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60499" y="1895494"/>
            <a:ext cx="11301259" cy="5410478"/>
          </a:xfrm>
          <a:custGeom>
            <a:avLst/>
            <a:gdLst/>
            <a:ahLst/>
            <a:cxnLst/>
            <a:rect r="r" b="b" t="t" l="l"/>
            <a:pathLst>
              <a:path h="5410478" w="11301259">
                <a:moveTo>
                  <a:pt x="0" y="0"/>
                </a:moveTo>
                <a:lnTo>
                  <a:pt x="11301259" y="0"/>
                </a:lnTo>
                <a:lnTo>
                  <a:pt x="11301259" y="5410477"/>
                </a:lnTo>
                <a:lnTo>
                  <a:pt x="0" y="5410477"/>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101130"/>
            <a:ext cx="7547253"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6:</a:t>
            </a:r>
            <a:r>
              <a:rPr lang="en-US" sz="2999">
                <a:solidFill>
                  <a:srgbClr val="000000"/>
                </a:solidFill>
                <a:latin typeface="Canva Sans"/>
                <a:ea typeface="Canva Sans"/>
                <a:cs typeface="Canva Sans"/>
                <a:sym typeface="Canva Sans"/>
              </a:rPr>
              <a:t> So sánh players (play 100 games)</a:t>
            </a:r>
          </a:p>
          <a:p>
            <a:pPr algn="l">
              <a:lnSpc>
                <a:spcPts val="4199"/>
              </a:lnSpc>
              <a:spcBef>
                <a:spcPct val="0"/>
              </a:spcBef>
            </a:pPr>
          </a:p>
        </p:txBody>
      </p:sp>
      <p:sp>
        <p:nvSpPr>
          <p:cNvPr name="TextBox 5" id="5"/>
          <p:cNvSpPr txBox="true"/>
          <p:nvPr/>
        </p:nvSpPr>
        <p:spPr>
          <a:xfrm rot="0">
            <a:off x="520494" y="1847869"/>
            <a:ext cx="1878092" cy="1019176"/>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Code </a:t>
            </a:r>
            <a:r>
              <a:rPr lang="en-US" sz="2999">
                <a:solidFill>
                  <a:srgbClr val="000000"/>
                </a:solidFill>
                <a:latin typeface="Canva Sans"/>
                <a:ea typeface="Canva Sans"/>
                <a:cs typeface="Canva Sans"/>
                <a:sym typeface="Canva Sans"/>
              </a:rPr>
              <a:t>test:</a:t>
            </a:r>
          </a:p>
          <a:p>
            <a:pPr algn="ctr">
              <a:lnSpc>
                <a:spcPts val="4199"/>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17117" y="1895494"/>
            <a:ext cx="11301259" cy="3927187"/>
          </a:xfrm>
          <a:custGeom>
            <a:avLst/>
            <a:gdLst/>
            <a:ahLst/>
            <a:cxnLst/>
            <a:rect r="r" b="b" t="t" l="l"/>
            <a:pathLst>
              <a:path h="3927187" w="11301259">
                <a:moveTo>
                  <a:pt x="0" y="0"/>
                </a:moveTo>
                <a:lnTo>
                  <a:pt x="11301259" y="0"/>
                </a:lnTo>
                <a:lnTo>
                  <a:pt x="11301259" y="3927187"/>
                </a:lnTo>
                <a:lnTo>
                  <a:pt x="0" y="3927187"/>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101130"/>
            <a:ext cx="7547253"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6:</a:t>
            </a:r>
            <a:r>
              <a:rPr lang="en-US" sz="2999">
                <a:solidFill>
                  <a:srgbClr val="000000"/>
                </a:solidFill>
                <a:latin typeface="Canva Sans"/>
                <a:ea typeface="Canva Sans"/>
                <a:cs typeface="Canva Sans"/>
                <a:sym typeface="Canva Sans"/>
              </a:rPr>
              <a:t> So sánh players (play 100 games)</a:t>
            </a:r>
          </a:p>
          <a:p>
            <a:pPr algn="l">
              <a:lnSpc>
                <a:spcPts val="4199"/>
              </a:lnSpc>
              <a:spcBef>
                <a:spcPct val="0"/>
              </a:spcBef>
            </a:pPr>
          </a:p>
        </p:txBody>
      </p:sp>
      <p:sp>
        <p:nvSpPr>
          <p:cNvPr name="TextBox 5" id="5"/>
          <p:cNvSpPr txBox="true"/>
          <p:nvPr/>
        </p:nvSpPr>
        <p:spPr>
          <a:xfrm rot="0">
            <a:off x="748558" y="1847869"/>
            <a:ext cx="1421963" cy="1019176"/>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Ou</a:t>
            </a:r>
            <a:r>
              <a:rPr lang="en-US" sz="2999">
                <a:solidFill>
                  <a:srgbClr val="000000"/>
                </a:solidFill>
                <a:latin typeface="Canva Sans"/>
                <a:ea typeface="Canva Sans"/>
                <a:cs typeface="Canva Sans"/>
                <a:sym typeface="Canva Sans"/>
              </a:rPr>
              <a:t>tput:</a:t>
            </a:r>
          </a:p>
          <a:p>
            <a:pPr algn="ctr">
              <a:lnSpc>
                <a:spcPts val="4199"/>
              </a:lnSpc>
              <a:spcBef>
                <a:spcPct val="0"/>
              </a:spcBef>
            </a:pPr>
          </a:p>
        </p:txBody>
      </p:sp>
      <p:sp>
        <p:nvSpPr>
          <p:cNvPr name="TextBox 6" id="6"/>
          <p:cNvSpPr txBox="true"/>
          <p:nvPr/>
        </p:nvSpPr>
        <p:spPr>
          <a:xfrm rot="0">
            <a:off x="748558" y="6775181"/>
            <a:ext cx="17259300"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Giải thích: Alpha-beta thắng 100% vs random (khi làm 'x'), hoặc 84% +16% draw (làm 'o'). Chậm hơn AND-OR vì khám phá toàn cây (recompute mỗi turn).</a:t>
            </a: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74279" y="4086225"/>
            <a:ext cx="17539442" cy="206692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Tổng</a:t>
            </a:r>
            <a:r>
              <a:rPr lang="en-US" sz="2999">
                <a:solidFill>
                  <a:srgbClr val="000000"/>
                </a:solidFill>
                <a:latin typeface="Canva Sans"/>
                <a:ea typeface="Canva Sans"/>
                <a:cs typeface="Canva Sans"/>
                <a:sym typeface="Canva Sans"/>
              </a:rPr>
              <a:t> thể, code minh họa Minimax/Alpha-Beta hiệu quả cho adversarial, nhanh hơn nhờ pruning/ordering, nhưng vẫn chậm so với heuristic methods. Để verify, tôi đã chạy code tương tự bằng tool (xác nhận ~18k nodes không ordering, ~7k có ordering).</a:t>
            </a:r>
          </a:p>
          <a:p>
            <a:pPr algn="l">
              <a:lnSpc>
                <a:spcPts val="4199"/>
              </a:lnSpc>
              <a:spcBef>
                <a:spcPct val="0"/>
              </a:spcBef>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08</a:t>
            </a:r>
          </a:p>
        </p:txBody>
      </p:sp>
      <p:sp>
        <p:nvSpPr>
          <p:cNvPr name="TextBox 18" id="18"/>
          <p:cNvSpPr txBox="true"/>
          <p:nvPr/>
        </p:nvSpPr>
        <p:spPr>
          <a:xfrm rot="0">
            <a:off x="2471719" y="3811587"/>
            <a:ext cx="13344562" cy="1825625"/>
          </a:xfrm>
          <a:prstGeom prst="rect">
            <a:avLst/>
          </a:prstGeom>
        </p:spPr>
        <p:txBody>
          <a:bodyPr anchor="t" rtlCol="false" tIns="0" lIns="0" bIns="0" rIns="0">
            <a:spAutoFit/>
          </a:bodyPr>
          <a:lstStyle/>
          <a:p>
            <a:pPr algn="ctr">
              <a:lnSpc>
                <a:spcPts val="7150"/>
              </a:lnSpc>
            </a:pPr>
            <a:r>
              <a:rPr lang="en-US" b="true" sz="6500">
                <a:solidFill>
                  <a:srgbClr val="02CDFF"/>
                </a:solidFill>
                <a:latin typeface="Barlow Condensed Bold"/>
                <a:ea typeface="Barlow Condensed Bold"/>
                <a:cs typeface="Barlow Condensed Bold"/>
                <a:sym typeface="Barlow Condensed Bold"/>
              </a:rPr>
              <a:t>Nondeterministic Actions: Solving Tic-Tac-Toe with AND-OR-Tree Search</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59300" y="0"/>
            <a:ext cx="1028700" cy="1028700"/>
            <a:chOff x="0" y="0"/>
            <a:chExt cx="270933" cy="270933"/>
          </a:xfrm>
        </p:grpSpPr>
        <p:sp>
          <p:nvSpPr>
            <p:cNvPr name="Freeform 6" id="6"/>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7" id="7"/>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9" id="9"/>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0" id="10"/>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1" id="11"/>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12" id="12"/>
          <p:cNvGrpSpPr/>
          <p:nvPr/>
        </p:nvGrpSpPr>
        <p:grpSpPr>
          <a:xfrm rot="0">
            <a:off x="17259300" y="9258300"/>
            <a:ext cx="1028700" cy="1028700"/>
            <a:chOff x="0" y="0"/>
            <a:chExt cx="270933" cy="270933"/>
          </a:xfrm>
        </p:grpSpPr>
        <p:sp>
          <p:nvSpPr>
            <p:cNvPr name="Freeform 13" id="13"/>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4" id="14"/>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09</a:t>
            </a:r>
          </a:p>
        </p:txBody>
      </p:sp>
      <p:grpSp>
        <p:nvGrpSpPr>
          <p:cNvPr name="Group 16" id="16"/>
          <p:cNvGrpSpPr/>
          <p:nvPr/>
        </p:nvGrpSpPr>
        <p:grpSpPr>
          <a:xfrm rot="0">
            <a:off x="691666" y="0"/>
            <a:ext cx="7030955" cy="10287000"/>
            <a:chOff x="0" y="0"/>
            <a:chExt cx="9374607" cy="13716000"/>
          </a:xfrm>
        </p:grpSpPr>
        <p:pic>
          <p:nvPicPr>
            <p:cNvPr name="Picture 17" id="17"/>
            <p:cNvPicPr>
              <a:picLocks noChangeAspect="true"/>
            </p:cNvPicPr>
            <p:nvPr/>
          </p:nvPicPr>
          <p:blipFill>
            <a:blip r:embed="rId2"/>
            <a:srcRect l="0" t="2520" r="0" b="0"/>
            <a:stretch>
              <a:fillRect/>
            </a:stretch>
          </p:blipFill>
          <p:spPr>
            <a:xfrm flipH="true" flipV="false">
              <a:off x="0" y="0"/>
              <a:ext cx="9374607" cy="13716000"/>
            </a:xfrm>
            <a:prstGeom prst="rect">
              <a:avLst/>
            </a:prstGeom>
          </p:spPr>
        </p:pic>
      </p:grpSp>
      <p:sp>
        <p:nvSpPr>
          <p:cNvPr name="TextBox 18" id="18"/>
          <p:cNvSpPr txBox="true"/>
          <p:nvPr/>
        </p:nvSpPr>
        <p:spPr>
          <a:xfrm rot="0">
            <a:off x="8437815" y="2680890"/>
            <a:ext cx="8642945" cy="3948431"/>
          </a:xfrm>
          <a:prstGeom prst="rect">
            <a:avLst/>
          </a:prstGeom>
        </p:spPr>
        <p:txBody>
          <a:bodyPr anchor="t" rtlCol="false" tIns="0" lIns="0" bIns="0" rIns="0">
            <a:spAutoFit/>
          </a:bodyPr>
          <a:lstStyle/>
          <a:p>
            <a:pPr algn="l">
              <a:lnSpc>
                <a:spcPts val="3919"/>
              </a:lnSpc>
            </a:pPr>
            <a:r>
              <a:rPr lang="en-US" sz="2799">
                <a:solidFill>
                  <a:srgbClr val="1F2020"/>
                </a:solidFill>
                <a:latin typeface="Open Sans"/>
                <a:ea typeface="Open Sans"/>
                <a:cs typeface="Open Sans"/>
                <a:sym typeface="Open Sans"/>
              </a:rPr>
              <a:t>Vấn đề chính: Bài toán là giải quyết trò chơi Tic-Tac-Toe (còn gọi là X-O) một cách thông minh, nơi người chơi 'X' (đại diện cho agent) cần tìm ra một kế hoạch có điều kiện (conditional plan) để đảm bảo thắng hoặc hòa trước đối thủ 'O' (được mô hình hóa như một phần của môi trường không xác định - nondeterministic environment).</a:t>
            </a:r>
          </a:p>
          <a:p>
            <a:pPr algn="l">
              <a:lnSpc>
                <a:spcPts val="3919"/>
              </a:lnSpc>
              <a:spcBef>
                <a:spcPct val="0"/>
              </a:spcBef>
            </a:pPr>
          </a:p>
        </p:txBody>
      </p:sp>
      <p:sp>
        <p:nvSpPr>
          <p:cNvPr name="TextBox 19" id="19"/>
          <p:cNvSpPr txBox="true"/>
          <p:nvPr/>
        </p:nvSpPr>
        <p:spPr>
          <a:xfrm rot="0">
            <a:off x="8018658" y="1047750"/>
            <a:ext cx="9481260" cy="584201"/>
          </a:xfrm>
          <a:prstGeom prst="rect">
            <a:avLst/>
          </a:prstGeom>
        </p:spPr>
        <p:txBody>
          <a:bodyPr anchor="t" rtlCol="false" tIns="0" lIns="0" bIns="0" rIns="0">
            <a:spAutoFit/>
          </a:bodyPr>
          <a:lstStyle/>
          <a:p>
            <a:pPr algn="l">
              <a:lnSpc>
                <a:spcPts val="4400"/>
              </a:lnSpc>
            </a:pPr>
            <a:r>
              <a:rPr lang="en-US" sz="4000" b="true">
                <a:solidFill>
                  <a:srgbClr val="02CDFF"/>
                </a:solidFill>
                <a:latin typeface="Barlow Condensed Bold"/>
                <a:ea typeface="Barlow Condensed Bold"/>
                <a:cs typeface="Barlow Condensed Bold"/>
                <a:sym typeface="Barlow Condensed Bold"/>
              </a:rPr>
              <a:t>1. Định nghĩa vấn đề, bài toán (Define the Problem)</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259300" y="9258300"/>
            <a:ext cx="1028700" cy="1028700"/>
            <a:chOff x="0" y="0"/>
            <a:chExt cx="270933" cy="270933"/>
          </a:xfrm>
        </p:grpSpPr>
        <p:sp>
          <p:nvSpPr>
            <p:cNvPr name="Freeform 6" id="6"/>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7" id="7"/>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10</a:t>
            </a:r>
          </a:p>
        </p:txBody>
      </p:sp>
      <p:grpSp>
        <p:nvGrpSpPr>
          <p:cNvPr name="Group 9" id="9"/>
          <p:cNvGrpSpPr/>
          <p:nvPr/>
        </p:nvGrpSpPr>
        <p:grpSpPr>
          <a:xfrm rot="0">
            <a:off x="-6435782" y="-722600"/>
            <a:ext cx="12614728" cy="11401186"/>
            <a:chOff x="0" y="0"/>
            <a:chExt cx="16819637" cy="15201582"/>
          </a:xfrm>
        </p:grpSpPr>
        <p:pic>
          <p:nvPicPr>
            <p:cNvPr name="Picture 10" id="10"/>
            <p:cNvPicPr>
              <a:picLocks noChangeAspect="true"/>
            </p:cNvPicPr>
            <p:nvPr/>
          </p:nvPicPr>
          <p:blipFill>
            <a:blip r:embed="rId2"/>
            <a:srcRect l="13141" t="0" r="13141" b="0"/>
            <a:stretch>
              <a:fillRect/>
            </a:stretch>
          </p:blipFill>
          <p:spPr>
            <a:xfrm flipH="false" flipV="false">
              <a:off x="0" y="0"/>
              <a:ext cx="16819637" cy="15201582"/>
            </a:xfrm>
            <a:prstGeom prst="rect">
              <a:avLst/>
            </a:prstGeom>
          </p:spPr>
        </p:pic>
      </p:grpSp>
      <p:sp>
        <p:nvSpPr>
          <p:cNvPr name="TextBox 11" id="11"/>
          <p:cNvSpPr txBox="true"/>
          <p:nvPr/>
        </p:nvSpPr>
        <p:spPr>
          <a:xfrm rot="0">
            <a:off x="6553887" y="1076325"/>
            <a:ext cx="11493495" cy="1346836"/>
          </a:xfrm>
          <a:prstGeom prst="rect">
            <a:avLst/>
          </a:prstGeom>
        </p:spPr>
        <p:txBody>
          <a:bodyPr anchor="t" rtlCol="false" tIns="0" lIns="0" bIns="0" rIns="0">
            <a:spAutoFit/>
          </a:bodyPr>
          <a:lstStyle/>
          <a:p>
            <a:pPr algn="l">
              <a:lnSpc>
                <a:spcPts val="5280"/>
              </a:lnSpc>
            </a:pPr>
            <a:r>
              <a:rPr lang="en-US" sz="4800" b="true">
                <a:solidFill>
                  <a:srgbClr val="02CDFF"/>
                </a:solidFill>
                <a:latin typeface="Barlow Condensed Bold"/>
                <a:ea typeface="Barlow Condensed Bold"/>
                <a:cs typeface="Barlow Condensed Bold"/>
                <a:sym typeface="Barlow Condensed Bold"/>
              </a:rPr>
              <a:t>2. Phương pháp làm, cách hoạt động, ý tưởng của các thuật toán khi giải quyết vấn đề đó:</a:t>
            </a:r>
          </a:p>
        </p:txBody>
      </p:sp>
      <p:sp>
        <p:nvSpPr>
          <p:cNvPr name="TextBox 12" id="12"/>
          <p:cNvSpPr txBox="true"/>
          <p:nvPr/>
        </p:nvSpPr>
        <p:spPr>
          <a:xfrm rot="0">
            <a:off x="6740026" y="3222853"/>
            <a:ext cx="11009812" cy="3453131"/>
          </a:xfrm>
          <a:prstGeom prst="rect">
            <a:avLst/>
          </a:prstGeom>
        </p:spPr>
        <p:txBody>
          <a:bodyPr anchor="t" rtlCol="false" tIns="0" lIns="0" bIns="0" rIns="0">
            <a:spAutoFit/>
          </a:bodyPr>
          <a:lstStyle/>
          <a:p>
            <a:pPr algn="l">
              <a:lnSpc>
                <a:spcPts val="3919"/>
              </a:lnSpc>
              <a:spcBef>
                <a:spcPct val="0"/>
              </a:spcBef>
            </a:pPr>
            <a:r>
              <a:rPr lang="en-US" sz="2799">
                <a:solidFill>
                  <a:srgbClr val="1F2020"/>
                </a:solidFill>
                <a:latin typeface="Open Sans"/>
                <a:ea typeface="Open Sans"/>
                <a:cs typeface="Open Sans"/>
                <a:sym typeface="Open Sans"/>
              </a:rPr>
              <a:t>AND-OR Tree Search là một thuật toán tìm kiếm cây (tree search) dành cho môi trường không xác định, nơi agent chọn hành động (OR nodes - lựa chọn của agent) và môi trường phản ứng (AND nodes - tất cả các phản ứng có thể). Mục tiêu là tìm một kế hoạch có điều kiện (contingency plan) đảm bảo đạt mục tiêu (thắng/hòa) bất kể phản ứng của đối thủ.</a:t>
            </a:r>
          </a:p>
          <a:p>
            <a:pPr algn="l">
              <a:lnSpc>
                <a:spcPts val="3919"/>
              </a:lnSpc>
              <a:spcBef>
                <a:spcPct val="0"/>
              </a:spcBef>
            </a:pP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10969" y="1388740"/>
            <a:ext cx="8243101" cy="613411"/>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Canva Sans"/>
                <a:ea typeface="Canva Sans"/>
                <a:cs typeface="Canva Sans"/>
                <a:sym typeface="Canva Sans"/>
              </a:rPr>
              <a:t>Cách hoạt động của các thuật toán:</a:t>
            </a:r>
          </a:p>
        </p:txBody>
      </p:sp>
      <p:sp>
        <p:nvSpPr>
          <p:cNvPr name="TextBox 3" id="3"/>
          <p:cNvSpPr txBox="true"/>
          <p:nvPr/>
        </p:nvSpPr>
        <p:spPr>
          <a:xfrm rot="0">
            <a:off x="510969" y="2880145"/>
            <a:ext cx="17777031" cy="3638551"/>
          </a:xfrm>
          <a:prstGeom prst="rect">
            <a:avLst/>
          </a:prstGeom>
        </p:spPr>
        <p:txBody>
          <a:bodyPr anchor="t" rtlCol="false" tIns="0" lIns="0" bIns="0" rIns="0">
            <a:spAutoFit/>
          </a:bodyPr>
          <a:lstStyle/>
          <a:p>
            <a:pPr algn="l" marL="647694" indent="-323847" lvl="1">
              <a:lnSpc>
                <a:spcPts val="4199"/>
              </a:lnSpc>
              <a:buAutoNum type="arabicPeriod" startAt="1"/>
            </a:pPr>
            <a:r>
              <a:rPr lang="en-US" sz="2999">
                <a:solidFill>
                  <a:srgbClr val="000000"/>
                </a:solidFill>
                <a:latin typeface="Canva Sans"/>
                <a:ea typeface="Canva Sans"/>
                <a:cs typeface="Canva Sans"/>
                <a:sym typeface="Canva Sans"/>
              </a:rPr>
              <a:t>Cấu trúc cây: </a:t>
            </a:r>
          </a:p>
          <a:p>
            <a:pPr algn="l" marL="647694" indent="-323847" lvl="1">
              <a:lnSpc>
                <a:spcPts val="4199"/>
              </a:lnSpc>
              <a:spcBef>
                <a:spcPct val="0"/>
              </a:spcBef>
              <a:buFont typeface="Arial"/>
              <a:buChar char="•"/>
            </a:pPr>
            <a:r>
              <a:rPr lang="en-US" sz="2999">
                <a:solidFill>
                  <a:srgbClr val="000000"/>
                </a:solidFill>
                <a:latin typeface="Canva Sans"/>
                <a:ea typeface="Canva Sans"/>
                <a:cs typeface="Canva Sans"/>
                <a:sym typeface="Canva Sans"/>
              </a:rPr>
              <a:t>O</a:t>
            </a:r>
            <a:r>
              <a:rPr lang="en-US" sz="2999">
                <a:solidFill>
                  <a:srgbClr val="000000"/>
                </a:solidFill>
                <a:latin typeface="Canva Sans"/>
                <a:ea typeface="Canva Sans"/>
                <a:cs typeface="Canva Sans"/>
                <a:sym typeface="Canva Sans"/>
              </a:rPr>
              <a:t>R</a:t>
            </a:r>
            <a:r>
              <a:rPr lang="en-US" sz="2999">
                <a:solidFill>
                  <a:srgbClr val="000000"/>
                </a:solidFill>
                <a:latin typeface="Canva Sans"/>
                <a:ea typeface="Canva Sans"/>
                <a:cs typeface="Canva Sans"/>
                <a:sym typeface="Canva Sans"/>
              </a:rPr>
              <a:t> N</a:t>
            </a:r>
            <a:r>
              <a:rPr lang="en-US" sz="2999">
                <a:solidFill>
                  <a:srgbClr val="000000"/>
                </a:solidFill>
                <a:latin typeface="Canva Sans"/>
                <a:ea typeface="Canva Sans"/>
                <a:cs typeface="Canva Sans"/>
                <a:sym typeface="Canva Sans"/>
              </a:rPr>
              <a:t>ode (lựa chọn của agent): Thử tất cả hành động có thể (actions). Chọn hành động đầu tiên dẫn đến tất cả nhánh con thành công (win/draw).</a:t>
            </a:r>
          </a:p>
          <a:p>
            <a:pPr algn="l" marL="647694" indent="-323847" lvl="1">
              <a:lnSpc>
                <a:spcPts val="4199"/>
              </a:lnSpc>
              <a:spcBef>
                <a:spcPct val="0"/>
              </a:spcBef>
              <a:buFont typeface="Arial"/>
              <a:buChar char="•"/>
            </a:pPr>
            <a:r>
              <a:rPr lang="en-US" sz="2999">
                <a:solidFill>
                  <a:srgbClr val="000000"/>
                </a:solidFill>
                <a:latin typeface="Canva Sans"/>
                <a:ea typeface="Canva Sans"/>
                <a:cs typeface="Canva Sans"/>
                <a:sym typeface="Canva Sans"/>
              </a:rPr>
              <a:t>AND</a:t>
            </a:r>
            <a:r>
              <a:rPr lang="en-US" sz="2999">
                <a:solidFill>
                  <a:srgbClr val="000000"/>
                </a:solidFill>
                <a:latin typeface="Canva Sans"/>
                <a:ea typeface="Canva Sans"/>
                <a:cs typeface="Canva Sans"/>
                <a:sym typeface="Canva Sans"/>
              </a:rPr>
              <a:t> Node (phản ứng của đối thủ): Xem xét tất cả trạng thái có thể sau hành động của agent + phản ứng của đối thủ. Chỉ thành công nếu mọi nhánh con đều dẫn đến thắng.</a:t>
            </a:r>
          </a:p>
          <a:p>
            <a:pPr algn="l" marL="647694" indent="-323847" lvl="1">
              <a:lnSpc>
                <a:spcPts val="4199"/>
              </a:lnSpc>
              <a:spcBef>
                <a:spcPct val="0"/>
              </a:spcBef>
              <a:buFont typeface="Arial"/>
              <a:buChar char="•"/>
            </a:pPr>
            <a:r>
              <a:rPr lang="en-US" sz="2999">
                <a:solidFill>
                  <a:srgbClr val="000000"/>
                </a:solidFill>
                <a:latin typeface="Canva Sans"/>
                <a:ea typeface="Canva Sans"/>
                <a:cs typeface="Canva Sans"/>
                <a:sym typeface="Canva Sans"/>
              </a:rPr>
              <a:t>Lá cây (terminal states): Kiểm tra bằng utility(state): +1 (win), -1 (lose), 0 (draw).</a:t>
            </a:r>
          </a:p>
          <a:p>
            <a:pPr algn="l">
              <a:lnSpc>
                <a:spcPts val="4199"/>
              </a:lnSpc>
              <a:spcBef>
                <a:spcPct val="0"/>
              </a:spcBef>
            </a:pP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85869" y="688657"/>
            <a:ext cx="8243101" cy="613411"/>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Canva Sans"/>
                <a:ea typeface="Canva Sans"/>
                <a:cs typeface="Canva Sans"/>
                <a:sym typeface="Canva Sans"/>
              </a:rPr>
              <a:t>Cách hoạt động của các thuật toán:</a:t>
            </a:r>
          </a:p>
        </p:txBody>
      </p:sp>
      <p:sp>
        <p:nvSpPr>
          <p:cNvPr name="TextBox 3" id="3"/>
          <p:cNvSpPr txBox="true"/>
          <p:nvPr/>
        </p:nvSpPr>
        <p:spPr>
          <a:xfrm rot="0">
            <a:off x="285869" y="2037520"/>
            <a:ext cx="17777031" cy="6424931"/>
          </a:xfrm>
          <a:prstGeom prst="rect">
            <a:avLst/>
          </a:prstGeom>
        </p:spPr>
        <p:txBody>
          <a:bodyPr anchor="t" rtlCol="false" tIns="0" lIns="0" bIns="0" rIns="0">
            <a:spAutoFit/>
          </a:bodyPr>
          <a:lstStyle/>
          <a:p>
            <a:pPr algn="l">
              <a:lnSpc>
                <a:spcPts val="3919"/>
              </a:lnSpc>
            </a:pPr>
            <a:r>
              <a:rPr lang="en-US" sz="2799">
                <a:solidFill>
                  <a:srgbClr val="000000"/>
                </a:solidFill>
                <a:latin typeface="Canva Sans"/>
                <a:ea typeface="Canva Sans"/>
                <a:cs typeface="Canva Sans"/>
                <a:sym typeface="Canva Sans"/>
              </a:rPr>
              <a:t>2. Quy trình tìm kiếm (DFS - Depth-First Search):</a:t>
            </a:r>
          </a:p>
          <a:p>
            <a:pPr algn="l" marL="604515" indent="-302257" lvl="1">
              <a:lnSpc>
                <a:spcPts val="3919"/>
              </a:lnSpc>
              <a:buFont typeface="Arial"/>
              <a:buChar char="•"/>
            </a:pPr>
            <a:r>
              <a:rPr lang="en-US" sz="2799">
                <a:solidFill>
                  <a:srgbClr val="000000"/>
                </a:solidFill>
                <a:latin typeface="Canva Sans"/>
                <a:ea typeface="Canva Sans"/>
                <a:cs typeface="Canva Sans"/>
                <a:sym typeface="Canva Sans"/>
              </a:rPr>
              <a:t>Bắt đầu từ trạng thái hiện tại (board).</a:t>
            </a:r>
          </a:p>
          <a:p>
            <a:pPr algn="l" marL="604515" indent="-302257" lvl="1">
              <a:lnSpc>
                <a:spcPts val="3919"/>
              </a:lnSpc>
              <a:buFont typeface="Arial"/>
              <a:buChar char="•"/>
            </a:pPr>
            <a:r>
              <a:rPr lang="en-US" sz="2799">
                <a:solidFill>
                  <a:srgbClr val="000000"/>
                </a:solidFill>
                <a:latin typeface="Canva Sans"/>
                <a:ea typeface="Canva Sans"/>
                <a:cs typeface="Canva Sans"/>
                <a:sym typeface="Canva Sans"/>
              </a:rPr>
              <a:t>or_search(state): </a:t>
            </a:r>
          </a:p>
          <a:p>
            <a:pPr algn="l" marL="1209029" indent="-403010" lvl="2">
              <a:lnSpc>
                <a:spcPts val="3919"/>
              </a:lnSpc>
              <a:spcBef>
                <a:spcPct val="0"/>
              </a:spcBef>
              <a:buFont typeface="Arial"/>
              <a:buChar char="⚬"/>
            </a:pPr>
            <a:r>
              <a:rPr lang="en-US" sz="2799">
                <a:solidFill>
                  <a:srgbClr val="000000"/>
                </a:solidFill>
                <a:latin typeface="Canva Sans"/>
                <a:ea typeface="Canva Sans"/>
                <a:cs typeface="Canva Sans"/>
                <a:sym typeface="Canva Sans"/>
              </a:rPr>
              <a:t>K</a:t>
            </a:r>
            <a:r>
              <a:rPr lang="en-US" sz="2799">
                <a:solidFill>
                  <a:srgbClr val="000000"/>
                </a:solidFill>
                <a:latin typeface="Canva Sans"/>
                <a:ea typeface="Canva Sans"/>
                <a:cs typeface="Canva Sans"/>
                <a:sym typeface="Canva Sans"/>
              </a:rPr>
              <a:t>iểm tra nếu đã terminal:</a:t>
            </a:r>
            <a:r>
              <a:rPr lang="en-US" sz="2799">
                <a:solidFill>
                  <a:srgbClr val="000000"/>
                </a:solidFill>
                <a:latin typeface="Canva Sans"/>
                <a:ea typeface="Canva Sans"/>
                <a:cs typeface="Canva Sans"/>
                <a:sym typeface="Canva Sans"/>
              </a:rPr>
              <a:t> Nếu l</a:t>
            </a:r>
            <a:r>
              <a:rPr lang="en-US" sz="2799">
                <a:solidFill>
                  <a:srgbClr val="000000"/>
                </a:solidFill>
                <a:latin typeface="Canva Sans"/>
                <a:ea typeface="Canva Sans"/>
                <a:cs typeface="Canva Sans"/>
                <a:sym typeface="Canva Sans"/>
              </a:rPr>
              <a:t>ose (-1) hoặc draw (nếu không coi là win), thất bại (return None).</a:t>
            </a:r>
          </a:p>
          <a:p>
            <a:pPr algn="l" marL="1209029" indent="-403010" lvl="2">
              <a:lnSpc>
                <a:spcPts val="3919"/>
              </a:lnSpc>
              <a:spcBef>
                <a:spcPct val="0"/>
              </a:spcBef>
              <a:buFont typeface="Arial"/>
              <a:buChar char="⚬"/>
            </a:pPr>
            <a:r>
              <a:rPr lang="en-US" sz="2799">
                <a:solidFill>
                  <a:srgbClr val="000000"/>
                </a:solidFill>
                <a:latin typeface="Canva Sans"/>
                <a:ea typeface="Canva Sans"/>
                <a:cs typeface="Canva Sans"/>
                <a:sym typeface="Canva Sans"/>
              </a:rPr>
              <a:t>Thử từng action: Gọi results(state, action) để tạo tập trạng thái sau (agent move + tất cả opponent moves).</a:t>
            </a:r>
          </a:p>
          <a:p>
            <a:pPr algn="l" marL="1209029" indent="-403010" lvl="2">
              <a:lnSpc>
                <a:spcPts val="3919"/>
              </a:lnSpc>
              <a:spcBef>
                <a:spcPct val="0"/>
              </a:spcBef>
              <a:buFont typeface="Arial"/>
              <a:buChar char="⚬"/>
            </a:pPr>
            <a:r>
              <a:rPr lang="en-US" sz="2799">
                <a:solidFill>
                  <a:srgbClr val="000000"/>
                </a:solidFill>
                <a:latin typeface="Canva Sans"/>
                <a:ea typeface="Canva Sans"/>
                <a:cs typeface="Canva Sans"/>
                <a:sym typeface="Canva Sans"/>
              </a:rPr>
              <a:t>Gọi and_search trên tập đó. Nếu tất cả thành công, return kế hoạch [action, conditional_plan].</a:t>
            </a:r>
          </a:p>
          <a:p>
            <a:pPr algn="l" marL="604515" indent="-302257" lvl="1">
              <a:lnSpc>
                <a:spcPts val="3919"/>
              </a:lnSpc>
              <a:spcBef>
                <a:spcPct val="0"/>
              </a:spcBef>
              <a:buFont typeface="Arial"/>
              <a:buChar char="•"/>
            </a:pPr>
            <a:r>
              <a:rPr lang="en-US" sz="2799">
                <a:solidFill>
                  <a:srgbClr val="000000"/>
                </a:solidFill>
                <a:latin typeface="Canva Sans"/>
                <a:ea typeface="Canva Sans"/>
                <a:cs typeface="Canva Sans"/>
                <a:sym typeface="Canva Sans"/>
              </a:rPr>
              <a:t>an</a:t>
            </a:r>
            <a:r>
              <a:rPr lang="en-US" sz="2799">
                <a:solidFill>
                  <a:srgbClr val="000000"/>
                </a:solidFill>
                <a:latin typeface="Canva Sans"/>
                <a:ea typeface="Canva Sans"/>
                <a:cs typeface="Canva Sans"/>
                <a:sym typeface="Canva Sans"/>
              </a:rPr>
              <a:t>d_search(states): </a:t>
            </a:r>
          </a:p>
          <a:p>
            <a:pPr algn="l" marL="1209029" indent="-403010" lvl="2">
              <a:lnSpc>
                <a:spcPts val="3919"/>
              </a:lnSpc>
              <a:spcBef>
                <a:spcPct val="0"/>
              </a:spcBef>
              <a:buFont typeface="Arial"/>
              <a:buChar char="⚬"/>
            </a:pPr>
            <a:r>
              <a:rPr lang="en-US" sz="2799">
                <a:solidFill>
                  <a:srgbClr val="000000"/>
                </a:solidFill>
                <a:latin typeface="Canva Sans"/>
                <a:ea typeface="Canva Sans"/>
                <a:cs typeface="Canva Sans"/>
                <a:sym typeface="Canva Sans"/>
              </a:rPr>
              <a:t>Với mỗi state trong states: Nếu win (+1), thành công ngay. Nếu draw (nếu coi là win), thành công.</a:t>
            </a:r>
          </a:p>
          <a:p>
            <a:pPr algn="l" marL="1209029" indent="-403010" lvl="2">
              <a:lnSpc>
                <a:spcPts val="3919"/>
              </a:lnSpc>
              <a:spcBef>
                <a:spcPct val="0"/>
              </a:spcBef>
              <a:buFont typeface="Arial"/>
              <a:buChar char="⚬"/>
            </a:pPr>
            <a:r>
              <a:rPr lang="en-US" sz="2799">
                <a:solidFill>
                  <a:srgbClr val="000000"/>
                </a:solidFill>
                <a:latin typeface="Canva Sans"/>
                <a:ea typeface="Canva Sans"/>
                <a:cs typeface="Canva Sans"/>
                <a:sym typeface="Canva Sans"/>
              </a:rPr>
              <a:t>Gọi or_search trên state đó. Nếu bất kỳ state nào thất bại (None), toàn bộ AND thất bại.</a:t>
            </a:r>
          </a:p>
          <a:p>
            <a:pPr algn="l" marL="1209029" indent="-403010" lvl="2">
              <a:lnSpc>
                <a:spcPts val="3919"/>
              </a:lnSpc>
              <a:spcBef>
                <a:spcPct val="0"/>
              </a:spcBef>
              <a:buFont typeface="Arial"/>
              <a:buChar char="⚬"/>
            </a:pPr>
            <a:r>
              <a:rPr lang="en-US" sz="2799">
                <a:solidFill>
                  <a:srgbClr val="000000"/>
                </a:solidFill>
                <a:latin typeface="Canva Sans"/>
                <a:ea typeface="Canva Sans"/>
                <a:cs typeface="Canva Sans"/>
                <a:sym typeface="Canva Sans"/>
              </a:rPr>
              <a:t>Nếu tất cả thành công, return danh sách conditional plans: [['if', state, 'then', sub_plan], ...].</a:t>
            </a:r>
          </a:p>
          <a:p>
            <a:pPr algn="l" marL="604515" indent="-302257" lvl="1">
              <a:lnSpc>
                <a:spcPts val="3919"/>
              </a:lnSpc>
              <a:spcBef>
                <a:spcPct val="0"/>
              </a:spcBef>
              <a:buFont typeface="Arial"/>
              <a:buChar char="•"/>
            </a:pPr>
            <a:r>
              <a:rPr lang="en-US" sz="2799">
                <a:solidFill>
                  <a:srgbClr val="000000"/>
                </a:solidFill>
                <a:latin typeface="Canva Sans"/>
                <a:ea typeface="Canva Sans"/>
                <a:cs typeface="Canva Sans"/>
                <a:sym typeface="Canva Sans"/>
              </a:rPr>
              <a:t>results(state, action): Tạo agent move, rồi tất cả opponent moves có thể, trả về list các board mới.</a:t>
            </a:r>
          </a:p>
          <a:p>
            <a:pPr algn="l">
              <a:lnSpc>
                <a:spcPts val="3919"/>
              </a:lnSpc>
              <a:spcBef>
                <a:spcPct val="0"/>
              </a:spcBef>
            </a:pPr>
          </a:p>
        </p:txBody>
      </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42934" y="1881689"/>
            <a:ext cx="8243101" cy="613411"/>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Canva Sans"/>
                <a:ea typeface="Canva Sans"/>
                <a:cs typeface="Canva Sans"/>
                <a:sym typeface="Canva Sans"/>
              </a:rPr>
              <a:t>Cách hoạt động của các thuật toán:</a:t>
            </a:r>
          </a:p>
        </p:txBody>
      </p:sp>
      <p:sp>
        <p:nvSpPr>
          <p:cNvPr name="TextBox 3" id="3"/>
          <p:cNvSpPr txBox="true"/>
          <p:nvPr/>
        </p:nvSpPr>
        <p:spPr>
          <a:xfrm rot="0">
            <a:off x="142934" y="3824287"/>
            <a:ext cx="18002131" cy="2590801"/>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3. Xử lý draw: Tha</a:t>
            </a:r>
            <a:r>
              <a:rPr lang="en-US" sz="2999">
                <a:solidFill>
                  <a:srgbClr val="000000"/>
                </a:solidFill>
                <a:latin typeface="Canva Sans"/>
                <a:ea typeface="Canva Sans"/>
                <a:cs typeface="Canva Sans"/>
                <a:sym typeface="Canva Sans"/>
              </a:rPr>
              <a:t>m </a:t>
            </a:r>
            <a:r>
              <a:rPr lang="en-US" sz="2999">
                <a:solidFill>
                  <a:srgbClr val="000000"/>
                </a:solidFill>
                <a:latin typeface="Canva Sans"/>
                <a:ea typeface="Canva Sans"/>
                <a:cs typeface="Canva Sans"/>
                <a:sym typeface="Canva Sans"/>
              </a:rPr>
              <a:t>số draw_is_win quyết định draw có phải mục tiêu không. Nếu True, draw = win; nếu False, chỉ win thực sự.</a:t>
            </a:r>
          </a:p>
          <a:p>
            <a:pPr algn="l">
              <a:lnSpc>
                <a:spcPts val="4199"/>
              </a:lnSpc>
              <a:spcBef>
                <a:spcPct val="0"/>
              </a:spcBef>
            </a:pPr>
            <a:r>
              <a:rPr lang="en-US" sz="2999">
                <a:solidFill>
                  <a:srgbClr val="000000"/>
                </a:solidFill>
                <a:latin typeface="Canva Sans"/>
                <a:ea typeface="Canva Sans"/>
                <a:cs typeface="Canva Sans"/>
                <a:sym typeface="Canva Sans"/>
              </a:rPr>
              <a:t>4. </a:t>
            </a:r>
            <a:r>
              <a:rPr lang="en-US" sz="2999">
                <a:solidFill>
                  <a:srgbClr val="000000"/>
                </a:solidFill>
                <a:latin typeface="Canva Sans"/>
                <a:ea typeface="Canva Sans"/>
                <a:cs typeface="Canva Sans"/>
                <a:sym typeface="Canva Sans"/>
              </a:rPr>
              <a:t>Kế</a:t>
            </a:r>
            <a:r>
              <a:rPr lang="en-US" sz="2999">
                <a:solidFill>
                  <a:srgbClr val="000000"/>
                </a:solidFill>
                <a:latin typeface="Canva Sans"/>
                <a:ea typeface="Canva Sans"/>
                <a:cs typeface="Canva Sans"/>
                <a:sym typeface="Canva Sans"/>
              </a:rPr>
              <a:t> hoạch kết quả: Một cây nested list, ví dụ: [action1, [['if', state1, 'then', [action2, 'win']], ...]] – mô tả "nếu đối thủ chơi state1, thì làm action2".</a:t>
            </a:r>
          </a:p>
          <a:p>
            <a:pPr algn="l">
              <a:lnSpc>
                <a:spcPts val="4199"/>
              </a:lnSpc>
              <a:spcBef>
                <a:spcPct val="0"/>
              </a:spcBef>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6859" y="3117614"/>
            <a:ext cx="15994423" cy="3598745"/>
          </a:xfrm>
          <a:custGeom>
            <a:avLst/>
            <a:gdLst/>
            <a:ahLst/>
            <a:cxnLst/>
            <a:rect r="r" b="b" t="t" l="l"/>
            <a:pathLst>
              <a:path h="3598745" w="15994423">
                <a:moveTo>
                  <a:pt x="0" y="0"/>
                </a:moveTo>
                <a:lnTo>
                  <a:pt x="15994423" y="0"/>
                </a:lnTo>
                <a:lnTo>
                  <a:pt x="15994423" y="3598745"/>
                </a:lnTo>
                <a:lnTo>
                  <a:pt x="0" y="3598745"/>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574563"/>
            <a:ext cx="5994321" cy="1543051"/>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1:</a:t>
            </a:r>
            <a:r>
              <a:rPr lang="en-US" sz="2999">
                <a:solidFill>
                  <a:srgbClr val="000000"/>
                </a:solidFill>
                <a:latin typeface="Canva Sans"/>
                <a:ea typeface="Canva Sans"/>
                <a:cs typeface="Canva Sans"/>
                <a:sym typeface="Canva Sans"/>
              </a:rPr>
              <a:t> results(empty_board(), 4)</a:t>
            </a:r>
          </a:p>
          <a:p>
            <a:pPr algn="l">
              <a:lnSpc>
                <a:spcPts val="4199"/>
              </a:lnSpc>
              <a:spcBef>
                <a:spcPct val="0"/>
              </a:spcBef>
            </a:pPr>
            <a:r>
              <a:rPr lang="en-US" sz="2999">
                <a:solidFill>
                  <a:srgbClr val="000000"/>
                </a:solidFill>
                <a:latin typeface="Canva Sans"/>
                <a:ea typeface="Canva Sans"/>
                <a:cs typeface="Canva Sans"/>
                <a:sym typeface="Canva Sans"/>
              </a:rPr>
              <a:t>Code test:</a:t>
            </a:r>
          </a:p>
          <a:p>
            <a:pPr algn="l">
              <a:lnSpc>
                <a:spcPts val="4199"/>
              </a:lnSpc>
              <a:spcBef>
                <a:spcPct val="0"/>
              </a:spcBef>
            </a:pP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31992" y="1198493"/>
            <a:ext cx="15227308" cy="6566776"/>
          </a:xfrm>
          <a:custGeom>
            <a:avLst/>
            <a:gdLst/>
            <a:ahLst/>
            <a:cxnLst/>
            <a:rect r="r" b="b" t="t" l="l"/>
            <a:pathLst>
              <a:path h="6566776" w="15227308">
                <a:moveTo>
                  <a:pt x="0" y="0"/>
                </a:moveTo>
                <a:lnTo>
                  <a:pt x="15227308" y="0"/>
                </a:lnTo>
                <a:lnTo>
                  <a:pt x="15227308" y="6566777"/>
                </a:lnTo>
                <a:lnTo>
                  <a:pt x="0" y="6566777"/>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574563"/>
            <a:ext cx="1421963"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O</a:t>
            </a:r>
            <a:r>
              <a:rPr lang="en-US" sz="2999">
                <a:solidFill>
                  <a:srgbClr val="000000"/>
                </a:solidFill>
                <a:latin typeface="Canva Sans"/>
                <a:ea typeface="Canva Sans"/>
                <a:cs typeface="Canva Sans"/>
                <a:sym typeface="Canva Sans"/>
              </a:rPr>
              <a:t>utput:</a:t>
            </a:r>
          </a:p>
          <a:p>
            <a:pPr algn="l">
              <a:lnSpc>
                <a:spcPts val="4199"/>
              </a:lnSpc>
              <a:spcBef>
                <a:spcPct val="0"/>
              </a:spcBef>
            </a:pPr>
          </a:p>
        </p:txBody>
      </p:sp>
      <p:sp>
        <p:nvSpPr>
          <p:cNvPr name="TextBox 5" id="5"/>
          <p:cNvSpPr txBox="true"/>
          <p:nvPr/>
        </p:nvSpPr>
        <p:spPr>
          <a:xfrm rot="0">
            <a:off x="520494" y="8441545"/>
            <a:ext cx="17259300"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Giải thích: 8 board mới, mỗi cái có 'x' ở giữa (vị trí 4) và 'o' ở một vị trí trống khác. Minh họa nondeterminism: 8 outcomes có thể.</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3009" y="2369901"/>
            <a:ext cx="15937804" cy="6574344"/>
          </a:xfrm>
          <a:custGeom>
            <a:avLst/>
            <a:gdLst/>
            <a:ahLst/>
            <a:cxnLst/>
            <a:rect r="r" b="b" t="t" l="l"/>
            <a:pathLst>
              <a:path h="6574344" w="15937804">
                <a:moveTo>
                  <a:pt x="0" y="0"/>
                </a:moveTo>
                <a:lnTo>
                  <a:pt x="15937804" y="0"/>
                </a:lnTo>
                <a:lnTo>
                  <a:pt x="15937804" y="6574344"/>
                </a:lnTo>
                <a:lnTo>
                  <a:pt x="0" y="6574344"/>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574563"/>
            <a:ext cx="14189750"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2: and_or_search </a:t>
            </a:r>
            <a:r>
              <a:rPr lang="en-US" sz="2999">
                <a:solidFill>
                  <a:srgbClr val="000000"/>
                </a:solidFill>
                <a:latin typeface="Canva Sans"/>
                <a:ea typeface="Canva Sans"/>
                <a:cs typeface="Canva Sans"/>
                <a:sym typeface="Canva Sans"/>
              </a:rPr>
              <a:t>trên board gần thắng (board[0]='x', [1]='o', [3]='o', [4]='x')</a:t>
            </a:r>
          </a:p>
          <a:p>
            <a:pPr algn="l">
              <a:lnSpc>
                <a:spcPts val="4199"/>
              </a:lnSpc>
              <a:spcBef>
                <a:spcPct val="0"/>
              </a:spcBef>
            </a:pPr>
          </a:p>
        </p:txBody>
      </p:sp>
      <p:sp>
        <p:nvSpPr>
          <p:cNvPr name="TextBox 5" id="5"/>
          <p:cNvSpPr txBox="true"/>
          <p:nvPr/>
        </p:nvSpPr>
        <p:spPr>
          <a:xfrm rot="0">
            <a:off x="520494" y="2322276"/>
            <a:ext cx="1878092"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Code test:</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10969" y="1525016"/>
            <a:ext cx="9997142" cy="6310696"/>
          </a:xfrm>
          <a:custGeom>
            <a:avLst/>
            <a:gdLst/>
            <a:ahLst/>
            <a:cxnLst/>
            <a:rect r="r" b="b" t="t" l="l"/>
            <a:pathLst>
              <a:path h="6310696" w="9997142">
                <a:moveTo>
                  <a:pt x="0" y="0"/>
                </a:moveTo>
                <a:lnTo>
                  <a:pt x="9997142" y="0"/>
                </a:lnTo>
                <a:lnTo>
                  <a:pt x="9997142" y="6310696"/>
                </a:lnTo>
                <a:lnTo>
                  <a:pt x="0" y="6310696"/>
                </a:lnTo>
                <a:lnTo>
                  <a:pt x="0" y="0"/>
                </a:lnTo>
                <a:close/>
              </a:path>
            </a:pathLst>
          </a:custGeom>
          <a:blipFill>
            <a:blip r:embed="rId2"/>
            <a:stretch>
              <a:fillRect l="0" t="0" r="0" b="0"/>
            </a:stretch>
          </a:blipFill>
        </p:spPr>
      </p:sp>
      <p:sp>
        <p:nvSpPr>
          <p:cNvPr name="Freeform 3" id="3"/>
          <p:cNvSpPr/>
          <p:nvPr/>
        </p:nvSpPr>
        <p:spPr>
          <a:xfrm flipH="false" flipV="false" rot="0">
            <a:off x="510969" y="7969062"/>
            <a:ext cx="6424173" cy="1428387"/>
          </a:xfrm>
          <a:custGeom>
            <a:avLst/>
            <a:gdLst/>
            <a:ahLst/>
            <a:cxnLst/>
            <a:rect r="r" b="b" t="t" l="l"/>
            <a:pathLst>
              <a:path h="1428387" w="6424173">
                <a:moveTo>
                  <a:pt x="0" y="0"/>
                </a:moveTo>
                <a:lnTo>
                  <a:pt x="6424173" y="0"/>
                </a:lnTo>
                <a:lnTo>
                  <a:pt x="6424173" y="1428386"/>
                </a:lnTo>
                <a:lnTo>
                  <a:pt x="0" y="1428386"/>
                </a:lnTo>
                <a:lnTo>
                  <a:pt x="0" y="0"/>
                </a:lnTo>
                <a:close/>
              </a:path>
            </a:pathLst>
          </a:custGeom>
          <a:blipFill>
            <a:blip r:embed="rId3"/>
            <a:stretch>
              <a:fillRect l="0" t="-2880" r="0" b="0"/>
            </a:stretch>
          </a:blipFill>
        </p:spPr>
      </p:sp>
      <p:sp>
        <p:nvSpPr>
          <p:cNvPr name="TextBox 4" id="4"/>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5" id="5"/>
          <p:cNvSpPr txBox="true"/>
          <p:nvPr/>
        </p:nvSpPr>
        <p:spPr>
          <a:xfrm rot="0">
            <a:off x="510969" y="981075"/>
            <a:ext cx="3941921"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Ou</a:t>
            </a:r>
            <a:r>
              <a:rPr lang="en-US" sz="2999">
                <a:solidFill>
                  <a:srgbClr val="000000"/>
                </a:solidFill>
                <a:latin typeface="Canva Sans"/>
                <a:ea typeface="Canva Sans"/>
                <a:cs typeface="Canva Sans"/>
                <a:sym typeface="Canva Sans"/>
              </a:rPr>
              <a:t>tput (Win or draw):</a:t>
            </a:r>
          </a:p>
          <a:p>
            <a:pPr algn="l">
              <a:lnSpc>
                <a:spcPts val="4199"/>
              </a:lnSpc>
              <a:spcBef>
                <a:spcPct val="0"/>
              </a:spcBef>
            </a:pPr>
          </a:p>
        </p:txBody>
      </p:sp>
      <p:sp>
        <p:nvSpPr>
          <p:cNvPr name="TextBox 6" id="6"/>
          <p:cNvSpPr txBox="true"/>
          <p:nvPr/>
        </p:nvSpPr>
        <p:spPr>
          <a:xfrm rot="0">
            <a:off x="10888097" y="2776537"/>
            <a:ext cx="5110641" cy="4686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Giải thích: Kế hoạch: Chơi vị trí 2 (cột giữa dưới). Sau đó, tùy opponent (4 cases): Nếu 'o' ở 6, chơi 6 để win; nếu 'o' ở 7, chơi 5 rồi tùy sub-plan... Tổng 22 nodes, thời gian ~4ms. Chọn 2 vì DFS tìm đầu tiên (không phải 8 tối ưu hơn).</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10969" y="1514475"/>
            <a:ext cx="14430585" cy="6277304"/>
          </a:xfrm>
          <a:custGeom>
            <a:avLst/>
            <a:gdLst/>
            <a:ahLst/>
            <a:cxnLst/>
            <a:rect r="r" b="b" t="t" l="l"/>
            <a:pathLst>
              <a:path h="6277304" w="14430585">
                <a:moveTo>
                  <a:pt x="0" y="0"/>
                </a:moveTo>
                <a:lnTo>
                  <a:pt x="14430585" y="0"/>
                </a:lnTo>
                <a:lnTo>
                  <a:pt x="14430585" y="6277305"/>
                </a:lnTo>
                <a:lnTo>
                  <a:pt x="0" y="6277305"/>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10969" y="981075"/>
            <a:ext cx="6945392"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Ou</a:t>
            </a:r>
            <a:r>
              <a:rPr lang="en-US" sz="2999">
                <a:solidFill>
                  <a:srgbClr val="000000"/>
                </a:solidFill>
                <a:latin typeface="Canva Sans"/>
                <a:ea typeface="Canva Sans"/>
                <a:cs typeface="Canva Sans"/>
                <a:sym typeface="Canva Sans"/>
              </a:rPr>
              <a:t>tput (Win only - draw_is_win=False):</a:t>
            </a:r>
          </a:p>
          <a:p>
            <a:pPr algn="l">
              <a:lnSpc>
                <a:spcPts val="4199"/>
              </a:lnSpc>
              <a:spcBef>
                <a:spcPct val="0"/>
              </a:spcBef>
            </a:pPr>
          </a:p>
        </p:txBody>
      </p:sp>
      <p:sp>
        <p:nvSpPr>
          <p:cNvPr name="TextBox 5" id="5"/>
          <p:cNvSpPr txBox="true"/>
          <p:nvPr/>
        </p:nvSpPr>
        <p:spPr>
          <a:xfrm rot="0">
            <a:off x="510969" y="8076646"/>
            <a:ext cx="17259300"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Giải thích: Loại draw, kế hoạch điều chỉnh (ví dụ: một số 'draw' thành 'win' bằng move khác), 30 nodes.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10969" y="3125465"/>
            <a:ext cx="5427218" cy="5364836"/>
          </a:xfrm>
          <a:custGeom>
            <a:avLst/>
            <a:gdLst/>
            <a:ahLst/>
            <a:cxnLst/>
            <a:rect r="r" b="b" t="t" l="l"/>
            <a:pathLst>
              <a:path h="5364836" w="5427218">
                <a:moveTo>
                  <a:pt x="0" y="0"/>
                </a:moveTo>
                <a:lnTo>
                  <a:pt x="5427218" y="0"/>
                </a:lnTo>
                <a:lnTo>
                  <a:pt x="5427218" y="5364835"/>
                </a:lnTo>
                <a:lnTo>
                  <a:pt x="0" y="5364835"/>
                </a:lnTo>
                <a:lnTo>
                  <a:pt x="0" y="0"/>
                </a:lnTo>
                <a:close/>
              </a:path>
            </a:pathLst>
          </a:custGeom>
          <a:blipFill>
            <a:blip r:embed="rId2"/>
            <a:stretch>
              <a:fillRect l="0" t="0" r="0" b="0"/>
            </a:stretch>
          </a:blipFill>
        </p:spPr>
      </p:sp>
      <p:sp>
        <p:nvSpPr>
          <p:cNvPr name="Freeform 3" id="3"/>
          <p:cNvSpPr/>
          <p:nvPr/>
        </p:nvSpPr>
        <p:spPr>
          <a:xfrm flipH="false" flipV="false" rot="0">
            <a:off x="6958872" y="2357439"/>
            <a:ext cx="9169570" cy="6556243"/>
          </a:xfrm>
          <a:custGeom>
            <a:avLst/>
            <a:gdLst/>
            <a:ahLst/>
            <a:cxnLst/>
            <a:rect r="r" b="b" t="t" l="l"/>
            <a:pathLst>
              <a:path h="6556243" w="9169570">
                <a:moveTo>
                  <a:pt x="0" y="0"/>
                </a:moveTo>
                <a:lnTo>
                  <a:pt x="9169570" y="0"/>
                </a:lnTo>
                <a:lnTo>
                  <a:pt x="9169570" y="6556242"/>
                </a:lnTo>
                <a:lnTo>
                  <a:pt x="0" y="6556242"/>
                </a:lnTo>
                <a:lnTo>
                  <a:pt x="0" y="0"/>
                </a:lnTo>
                <a:close/>
              </a:path>
            </a:pathLst>
          </a:custGeom>
          <a:blipFill>
            <a:blip r:embed="rId3"/>
            <a:stretch>
              <a:fillRect l="0" t="0" r="0" b="0"/>
            </a:stretch>
          </a:blipFill>
        </p:spPr>
      </p:sp>
      <p:sp>
        <p:nvSpPr>
          <p:cNvPr name="TextBox 4" id="4"/>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5" id="5"/>
          <p:cNvSpPr txBox="true"/>
          <p:nvPr/>
        </p:nvSpPr>
        <p:spPr>
          <a:xfrm rot="0">
            <a:off x="520494" y="981075"/>
            <a:ext cx="11023163"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3: Board có thể d</a:t>
            </a:r>
            <a:r>
              <a:rPr lang="en-US" sz="2999">
                <a:solidFill>
                  <a:srgbClr val="000000"/>
                </a:solidFill>
                <a:latin typeface="Canva Sans"/>
                <a:ea typeface="Canva Sans"/>
                <a:cs typeface="Canva Sans"/>
                <a:sym typeface="Canva Sans"/>
              </a:rPr>
              <a:t>raw (board[0]='x', [1]='o', [2]='x', [4]='o')</a:t>
            </a:r>
          </a:p>
          <a:p>
            <a:pPr algn="l">
              <a:lnSpc>
                <a:spcPts val="4199"/>
              </a:lnSpc>
              <a:spcBef>
                <a:spcPct val="0"/>
              </a:spcBef>
            </a:pPr>
          </a:p>
        </p:txBody>
      </p:sp>
      <p:sp>
        <p:nvSpPr>
          <p:cNvPr name="TextBox 6" id="6"/>
          <p:cNvSpPr txBox="true"/>
          <p:nvPr/>
        </p:nvSpPr>
        <p:spPr>
          <a:xfrm rot="0">
            <a:off x="0" y="1728788"/>
            <a:ext cx="8208939"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Code test: Tương tự test 2, thay board.:</a:t>
            </a:r>
          </a:p>
        </p:txBody>
      </p:sp>
      <p:sp>
        <p:nvSpPr>
          <p:cNvPr name="TextBox 7" id="7"/>
          <p:cNvSpPr txBox="true"/>
          <p:nvPr/>
        </p:nvSpPr>
        <p:spPr>
          <a:xfrm rot="0">
            <a:off x="520494" y="2401564"/>
            <a:ext cx="3941921"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Output (Win or draw):</a:t>
            </a:r>
          </a:p>
        </p:txBody>
      </p:sp>
      <p:sp>
        <p:nvSpPr>
          <p:cNvPr name="TextBox 8" id="8"/>
          <p:cNvSpPr txBox="true"/>
          <p:nvPr/>
        </p:nvSpPr>
        <p:spPr>
          <a:xfrm rot="0">
            <a:off x="1452158" y="9210675"/>
            <a:ext cx="9159836"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Giải thích: Chơi 7 đảm bảo ít nhất draw (64 nodes).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8580" y="4157467"/>
            <a:ext cx="10718016" cy="2781905"/>
          </a:xfrm>
          <a:custGeom>
            <a:avLst/>
            <a:gdLst/>
            <a:ahLst/>
            <a:cxnLst/>
            <a:rect r="r" b="b" t="t" l="l"/>
            <a:pathLst>
              <a:path h="2781905" w="10718016">
                <a:moveTo>
                  <a:pt x="0" y="0"/>
                </a:moveTo>
                <a:lnTo>
                  <a:pt x="10718016" y="0"/>
                </a:lnTo>
                <a:lnTo>
                  <a:pt x="10718016" y="2781905"/>
                </a:lnTo>
                <a:lnTo>
                  <a:pt x="0" y="2781905"/>
                </a:lnTo>
                <a:lnTo>
                  <a:pt x="0" y="0"/>
                </a:lnTo>
                <a:close/>
              </a:path>
            </a:pathLst>
          </a:custGeom>
          <a:blipFill>
            <a:blip r:embed="rId2"/>
            <a:stretch>
              <a:fillRect l="0" t="0" r="0" b="0"/>
            </a:stretch>
          </a:blipFill>
        </p:spPr>
      </p:sp>
      <p:sp>
        <p:nvSpPr>
          <p:cNvPr name="TextBox 3" id="3"/>
          <p:cNvSpPr txBox="true"/>
          <p:nvPr/>
        </p:nvSpPr>
        <p:spPr>
          <a:xfrm rot="0">
            <a:off x="758580" y="962025"/>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768105" y="2106577"/>
            <a:ext cx="11023163"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3: Board có thể d</a:t>
            </a:r>
            <a:r>
              <a:rPr lang="en-US" sz="2999">
                <a:solidFill>
                  <a:srgbClr val="000000"/>
                </a:solidFill>
                <a:latin typeface="Canva Sans"/>
                <a:ea typeface="Canva Sans"/>
                <a:cs typeface="Canva Sans"/>
                <a:sym typeface="Canva Sans"/>
              </a:rPr>
              <a:t>raw (board[0]='x', [1]='o', [2]='x', [4]='o')</a:t>
            </a:r>
          </a:p>
          <a:p>
            <a:pPr algn="l">
              <a:lnSpc>
                <a:spcPts val="4199"/>
              </a:lnSpc>
              <a:spcBef>
                <a:spcPct val="0"/>
              </a:spcBef>
            </a:pPr>
          </a:p>
        </p:txBody>
      </p:sp>
      <p:sp>
        <p:nvSpPr>
          <p:cNvPr name="TextBox 5" id="5"/>
          <p:cNvSpPr txBox="true"/>
          <p:nvPr/>
        </p:nvSpPr>
        <p:spPr>
          <a:xfrm rot="0">
            <a:off x="247610" y="2854290"/>
            <a:ext cx="8208939"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Code test: Tương tự test 2, thay board.:</a:t>
            </a:r>
          </a:p>
        </p:txBody>
      </p:sp>
      <p:sp>
        <p:nvSpPr>
          <p:cNvPr name="TextBox 6" id="6"/>
          <p:cNvSpPr txBox="true"/>
          <p:nvPr/>
        </p:nvSpPr>
        <p:spPr>
          <a:xfrm rot="0">
            <a:off x="803714" y="3528816"/>
            <a:ext cx="3548366"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Output (Win only):</a:t>
            </a:r>
          </a:p>
        </p:txBody>
      </p:sp>
      <p:sp>
        <p:nvSpPr>
          <p:cNvPr name="TextBox 7" id="7"/>
          <p:cNvSpPr txBox="true"/>
          <p:nvPr/>
        </p:nvSpPr>
        <p:spPr>
          <a:xfrm rot="0">
            <a:off x="803714" y="6891747"/>
            <a:ext cx="11173659"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Giải thích: Không win thuần túy, return None → agent random.</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632520" y="2277778"/>
            <a:ext cx="10364742" cy="6231801"/>
          </a:xfrm>
          <a:custGeom>
            <a:avLst/>
            <a:gdLst/>
            <a:ahLst/>
            <a:cxnLst/>
            <a:rect r="r" b="b" t="t" l="l"/>
            <a:pathLst>
              <a:path h="6231801" w="10364742">
                <a:moveTo>
                  <a:pt x="0" y="0"/>
                </a:moveTo>
                <a:lnTo>
                  <a:pt x="10364742" y="0"/>
                </a:lnTo>
                <a:lnTo>
                  <a:pt x="10364742" y="6231801"/>
                </a:lnTo>
                <a:lnTo>
                  <a:pt x="0" y="6231801"/>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98286" y="1055068"/>
            <a:ext cx="3822263"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4: Emp</a:t>
            </a:r>
            <a:r>
              <a:rPr lang="en-US" sz="2999">
                <a:solidFill>
                  <a:srgbClr val="000000"/>
                </a:solidFill>
                <a:latin typeface="Canva Sans"/>
                <a:ea typeface="Canva Sans"/>
                <a:cs typeface="Canva Sans"/>
                <a:sym typeface="Canva Sans"/>
              </a:rPr>
              <a:t>ty board</a:t>
            </a:r>
          </a:p>
          <a:p>
            <a:pPr algn="l">
              <a:lnSpc>
                <a:spcPts val="4199"/>
              </a:lnSpc>
              <a:spcBef>
                <a:spcPct val="0"/>
              </a:spcBef>
            </a:pPr>
          </a:p>
        </p:txBody>
      </p:sp>
      <p:sp>
        <p:nvSpPr>
          <p:cNvPr name="TextBox 5" id="5"/>
          <p:cNvSpPr txBox="true"/>
          <p:nvPr/>
        </p:nvSpPr>
        <p:spPr>
          <a:xfrm rot="0">
            <a:off x="510969" y="1706278"/>
            <a:ext cx="7938819" cy="1019176"/>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Code test: Tương tự, board=empty_board().</a:t>
            </a:r>
          </a:p>
          <a:p>
            <a:pPr algn="ctr">
              <a:lnSpc>
                <a:spcPts val="4199"/>
              </a:lnSpc>
              <a:spcBef>
                <a:spcPct val="0"/>
              </a:spcBef>
            </a:pPr>
          </a:p>
        </p:txBody>
      </p:sp>
      <p:sp>
        <p:nvSpPr>
          <p:cNvPr name="TextBox 6" id="6"/>
          <p:cNvSpPr txBox="true"/>
          <p:nvPr/>
        </p:nvSpPr>
        <p:spPr>
          <a:xfrm rot="0">
            <a:off x="538457" y="2230153"/>
            <a:ext cx="3941921"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Output (Win or draw):</a:t>
            </a:r>
          </a:p>
        </p:txBody>
      </p:sp>
      <p:sp>
        <p:nvSpPr>
          <p:cNvPr name="TextBox 7" id="7"/>
          <p:cNvSpPr txBox="true"/>
          <p:nvPr/>
        </p:nvSpPr>
        <p:spPr>
          <a:xfrm rot="0">
            <a:off x="1028700" y="8986837"/>
            <a:ext cx="9952077"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Giải thích: Đảm bảo draw (Tic-Tac-Toe optimal là draw).</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3083049"/>
            <a:ext cx="14734467" cy="3591526"/>
          </a:xfrm>
          <a:custGeom>
            <a:avLst/>
            <a:gdLst/>
            <a:ahLst/>
            <a:cxnLst/>
            <a:rect r="r" b="b" t="t" l="l"/>
            <a:pathLst>
              <a:path h="3591526" w="14734467">
                <a:moveTo>
                  <a:pt x="0" y="0"/>
                </a:moveTo>
                <a:lnTo>
                  <a:pt x="14734467" y="0"/>
                </a:lnTo>
                <a:lnTo>
                  <a:pt x="14734467" y="3591526"/>
                </a:lnTo>
                <a:lnTo>
                  <a:pt x="0" y="3591526"/>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98286" y="1055068"/>
            <a:ext cx="3822263"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4: Emp</a:t>
            </a:r>
            <a:r>
              <a:rPr lang="en-US" sz="2999">
                <a:solidFill>
                  <a:srgbClr val="000000"/>
                </a:solidFill>
                <a:latin typeface="Canva Sans"/>
                <a:ea typeface="Canva Sans"/>
                <a:cs typeface="Canva Sans"/>
                <a:sym typeface="Canva Sans"/>
              </a:rPr>
              <a:t>ty board</a:t>
            </a:r>
          </a:p>
          <a:p>
            <a:pPr algn="l">
              <a:lnSpc>
                <a:spcPts val="4199"/>
              </a:lnSpc>
              <a:spcBef>
                <a:spcPct val="0"/>
              </a:spcBef>
            </a:pPr>
          </a:p>
        </p:txBody>
      </p:sp>
      <p:sp>
        <p:nvSpPr>
          <p:cNvPr name="TextBox 5" id="5"/>
          <p:cNvSpPr txBox="true"/>
          <p:nvPr/>
        </p:nvSpPr>
        <p:spPr>
          <a:xfrm rot="0">
            <a:off x="510969" y="1706278"/>
            <a:ext cx="7938819" cy="1019176"/>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Code test: Tương tự, board=empty_board().</a:t>
            </a:r>
          </a:p>
          <a:p>
            <a:pPr algn="ctr">
              <a:lnSpc>
                <a:spcPts val="4199"/>
              </a:lnSpc>
              <a:spcBef>
                <a:spcPct val="0"/>
              </a:spcBef>
            </a:pPr>
          </a:p>
        </p:txBody>
      </p:sp>
      <p:sp>
        <p:nvSpPr>
          <p:cNvPr name="TextBox 6" id="6"/>
          <p:cNvSpPr txBox="true"/>
          <p:nvPr/>
        </p:nvSpPr>
        <p:spPr>
          <a:xfrm rot="0">
            <a:off x="510969" y="2226644"/>
            <a:ext cx="3345775" cy="1019176"/>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Output (Win only):</a:t>
            </a:r>
          </a:p>
          <a:p>
            <a:pPr algn="ctr">
              <a:lnSpc>
                <a:spcPts val="4199"/>
              </a:lnSpc>
              <a:spcBef>
                <a:spcPct val="0"/>
              </a:spcBef>
            </a:pP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4792" y="2817577"/>
            <a:ext cx="16391360" cy="4077351"/>
          </a:xfrm>
          <a:custGeom>
            <a:avLst/>
            <a:gdLst/>
            <a:ahLst/>
            <a:cxnLst/>
            <a:rect r="r" b="b" t="t" l="l"/>
            <a:pathLst>
              <a:path h="4077351" w="16391360">
                <a:moveTo>
                  <a:pt x="0" y="0"/>
                </a:moveTo>
                <a:lnTo>
                  <a:pt x="16391360" y="0"/>
                </a:lnTo>
                <a:lnTo>
                  <a:pt x="16391360" y="4077350"/>
                </a:lnTo>
                <a:lnTo>
                  <a:pt x="0" y="4077350"/>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574563"/>
            <a:ext cx="4647594"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5: S</a:t>
            </a:r>
            <a:r>
              <a:rPr lang="en-US" sz="2999">
                <a:solidFill>
                  <a:srgbClr val="000000"/>
                </a:solidFill>
                <a:latin typeface="Canva Sans"/>
                <a:ea typeface="Canva Sans"/>
                <a:cs typeface="Canva Sans"/>
                <a:sym typeface="Canva Sans"/>
              </a:rPr>
              <a:t>o sánh players</a:t>
            </a:r>
          </a:p>
          <a:p>
            <a:pPr algn="l">
              <a:lnSpc>
                <a:spcPts val="4199"/>
              </a:lnSpc>
              <a:spcBef>
                <a:spcPct val="0"/>
              </a:spcBef>
            </a:pPr>
          </a:p>
        </p:txBody>
      </p:sp>
      <p:sp>
        <p:nvSpPr>
          <p:cNvPr name="TextBox 5" id="5"/>
          <p:cNvSpPr txBox="true"/>
          <p:nvPr/>
        </p:nvSpPr>
        <p:spPr>
          <a:xfrm rot="0">
            <a:off x="520494" y="2322276"/>
            <a:ext cx="1878092"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Code test:</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56394" y="2107963"/>
            <a:ext cx="13195353" cy="4915269"/>
          </a:xfrm>
          <a:custGeom>
            <a:avLst/>
            <a:gdLst/>
            <a:ahLst/>
            <a:cxnLst/>
            <a:rect r="r" b="b" t="t" l="l"/>
            <a:pathLst>
              <a:path h="4915269" w="13195353">
                <a:moveTo>
                  <a:pt x="0" y="0"/>
                </a:moveTo>
                <a:lnTo>
                  <a:pt x="13195353" y="0"/>
                </a:lnTo>
                <a:lnTo>
                  <a:pt x="13195353" y="4915270"/>
                </a:lnTo>
                <a:lnTo>
                  <a:pt x="0" y="4915270"/>
                </a:lnTo>
                <a:lnTo>
                  <a:pt x="0" y="0"/>
                </a:lnTo>
                <a:close/>
              </a:path>
            </a:pathLst>
          </a:custGeom>
          <a:blipFill>
            <a:blip r:embed="rId2"/>
            <a:stretch>
              <a:fillRect l="0" t="0" r="0" b="0"/>
            </a:stretch>
          </a:blipFill>
        </p:spPr>
      </p:sp>
      <p:sp>
        <p:nvSpPr>
          <p:cNvPr name="TextBox 3" id="3"/>
          <p:cNvSpPr txBox="true"/>
          <p:nvPr/>
        </p:nvSpPr>
        <p:spPr>
          <a:xfrm rot="0">
            <a:off x="510969" y="285748"/>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520494" y="1574563"/>
            <a:ext cx="4647594"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5: S</a:t>
            </a:r>
            <a:r>
              <a:rPr lang="en-US" sz="2999">
                <a:solidFill>
                  <a:srgbClr val="000000"/>
                </a:solidFill>
                <a:latin typeface="Canva Sans"/>
                <a:ea typeface="Canva Sans"/>
                <a:cs typeface="Canva Sans"/>
                <a:sym typeface="Canva Sans"/>
              </a:rPr>
              <a:t>o sánh players</a:t>
            </a:r>
          </a:p>
          <a:p>
            <a:pPr algn="l">
              <a:lnSpc>
                <a:spcPts val="4199"/>
              </a:lnSpc>
              <a:spcBef>
                <a:spcPct val="0"/>
              </a:spcBef>
            </a:pPr>
          </a:p>
        </p:txBody>
      </p:sp>
      <p:sp>
        <p:nvSpPr>
          <p:cNvPr name="TextBox 5" id="5"/>
          <p:cNvSpPr txBox="true"/>
          <p:nvPr/>
        </p:nvSpPr>
        <p:spPr>
          <a:xfrm rot="0">
            <a:off x="520494" y="2060338"/>
            <a:ext cx="1421963"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Ou</a:t>
            </a:r>
            <a:r>
              <a:rPr lang="en-US" sz="2999">
                <a:solidFill>
                  <a:srgbClr val="000000"/>
                </a:solidFill>
                <a:latin typeface="Canva Sans"/>
                <a:ea typeface="Canva Sans"/>
                <a:cs typeface="Canva Sans"/>
                <a:sym typeface="Canva Sans"/>
              </a:rPr>
              <a:t>tput:</a:t>
            </a:r>
          </a:p>
          <a:p>
            <a:pPr algn="l">
              <a:lnSpc>
                <a:spcPts val="4199"/>
              </a:lnSpc>
              <a:spcBef>
                <a:spcPct val="0"/>
              </a:spcBef>
            </a:pPr>
          </a:p>
        </p:txBody>
      </p:sp>
      <p:sp>
        <p:nvSpPr>
          <p:cNvPr name="TextBox 6" id="6"/>
          <p:cNvSpPr txBox="true"/>
          <p:nvPr/>
        </p:nvSpPr>
        <p:spPr>
          <a:xfrm rot="0">
            <a:off x="510969" y="7477058"/>
            <a:ext cx="17118568"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Giải thích: AND-OR thống trị random (thắng 92%, draw 8%). Chậm vì recompute plan mỗi turn.</a:t>
            </a:r>
          </a:p>
          <a:p>
            <a:pPr algn="l">
              <a:lnSpc>
                <a:spcPts val="4199"/>
              </a:lnSpc>
              <a:spcBef>
                <a:spcPct val="0"/>
              </a:spcBef>
            </a:pPr>
            <a:r>
              <a:rPr lang="en-US" sz="2999">
                <a:solidFill>
                  <a:srgbClr val="000000"/>
                </a:solidFill>
                <a:latin typeface="Canva Sans"/>
                <a:ea typeface="Canva Sans"/>
                <a:cs typeface="Canva Sans"/>
                <a:sym typeface="Canva Sans"/>
              </a:rPr>
              <a:t>Code test (and-or vs and-or):</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14350" y="4590603"/>
            <a:ext cx="17259300" cy="1272873"/>
          </a:xfrm>
          <a:custGeom>
            <a:avLst/>
            <a:gdLst/>
            <a:ahLst/>
            <a:cxnLst/>
            <a:rect r="r" b="b" t="t" l="l"/>
            <a:pathLst>
              <a:path h="1272873" w="17259300">
                <a:moveTo>
                  <a:pt x="0" y="0"/>
                </a:moveTo>
                <a:lnTo>
                  <a:pt x="17259300" y="0"/>
                </a:lnTo>
                <a:lnTo>
                  <a:pt x="17259300" y="1272874"/>
                </a:lnTo>
                <a:lnTo>
                  <a:pt x="0" y="1272874"/>
                </a:lnTo>
                <a:lnTo>
                  <a:pt x="0" y="0"/>
                </a:lnTo>
                <a:close/>
              </a:path>
            </a:pathLst>
          </a:custGeom>
          <a:blipFill>
            <a:blip r:embed="rId2"/>
            <a:stretch>
              <a:fillRect l="0" t="0" r="0" b="0"/>
            </a:stretch>
          </a:blipFill>
        </p:spPr>
      </p:sp>
      <p:sp>
        <p:nvSpPr>
          <p:cNvPr name="TextBox 3" id="3"/>
          <p:cNvSpPr txBox="true"/>
          <p:nvPr/>
        </p:nvSpPr>
        <p:spPr>
          <a:xfrm rot="0">
            <a:off x="900899" y="1796837"/>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910424" y="2836057"/>
            <a:ext cx="4647594"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Ví dụ 5: S</a:t>
            </a:r>
            <a:r>
              <a:rPr lang="en-US" sz="2999">
                <a:solidFill>
                  <a:srgbClr val="000000"/>
                </a:solidFill>
                <a:latin typeface="Canva Sans"/>
                <a:ea typeface="Canva Sans"/>
                <a:cs typeface="Canva Sans"/>
                <a:sym typeface="Canva Sans"/>
              </a:rPr>
              <a:t>o sánh players</a:t>
            </a:r>
          </a:p>
          <a:p>
            <a:pPr algn="l">
              <a:lnSpc>
                <a:spcPts val="4199"/>
              </a:lnSpc>
              <a:spcBef>
                <a:spcPct val="0"/>
              </a:spcBef>
            </a:pPr>
          </a:p>
        </p:txBody>
      </p:sp>
      <p:sp>
        <p:nvSpPr>
          <p:cNvPr name="TextBox 5" id="5"/>
          <p:cNvSpPr txBox="true"/>
          <p:nvPr/>
        </p:nvSpPr>
        <p:spPr>
          <a:xfrm rot="0">
            <a:off x="910424" y="3571427"/>
            <a:ext cx="6475666" cy="1019176"/>
          </a:xfrm>
          <a:prstGeom prst="rect">
            <a:avLst/>
          </a:prstGeom>
        </p:spPr>
        <p:txBody>
          <a:bodyPr anchor="t" rtlCol="false" tIns="0" lIns="0" bIns="0" rIns="0">
            <a:spAutoFit/>
          </a:bodyPr>
          <a:lstStyle/>
          <a:p>
            <a:pPr algn="just">
              <a:lnSpc>
                <a:spcPts val="4199"/>
              </a:lnSpc>
              <a:spcBef>
                <a:spcPct val="0"/>
              </a:spcBef>
            </a:pPr>
            <a:r>
              <a:rPr lang="en-US" sz="2999">
                <a:solidFill>
                  <a:srgbClr val="000000"/>
                </a:solidFill>
                <a:latin typeface="Canva Sans"/>
                <a:ea typeface="Canva Sans"/>
                <a:cs typeface="Canva Sans"/>
                <a:sym typeface="Canva Sans"/>
              </a:rPr>
              <a:t>Code test (and-or vs and-or):</a:t>
            </a:r>
          </a:p>
          <a:p>
            <a:pPr algn="just">
              <a:lnSpc>
                <a:spcPts val="4199"/>
              </a:lnSpc>
              <a:spcBef>
                <a:spcPct val="0"/>
              </a:spcBef>
            </a:pP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10969" y="3839975"/>
            <a:ext cx="16337433" cy="2001336"/>
          </a:xfrm>
          <a:custGeom>
            <a:avLst/>
            <a:gdLst/>
            <a:ahLst/>
            <a:cxnLst/>
            <a:rect r="r" b="b" t="t" l="l"/>
            <a:pathLst>
              <a:path h="2001336" w="16337433">
                <a:moveTo>
                  <a:pt x="0" y="0"/>
                </a:moveTo>
                <a:lnTo>
                  <a:pt x="16337434" y="0"/>
                </a:lnTo>
                <a:lnTo>
                  <a:pt x="16337434" y="2001335"/>
                </a:lnTo>
                <a:lnTo>
                  <a:pt x="0" y="2001335"/>
                </a:lnTo>
                <a:lnTo>
                  <a:pt x="0" y="0"/>
                </a:lnTo>
                <a:close/>
              </a:path>
            </a:pathLst>
          </a:custGeom>
          <a:blipFill>
            <a:blip r:embed="rId2"/>
            <a:stretch>
              <a:fillRect l="0" t="0" r="0" b="0"/>
            </a:stretch>
          </a:blipFill>
        </p:spPr>
      </p:sp>
      <p:sp>
        <p:nvSpPr>
          <p:cNvPr name="TextBox 3" id="3"/>
          <p:cNvSpPr txBox="true"/>
          <p:nvPr/>
        </p:nvSpPr>
        <p:spPr>
          <a:xfrm rot="0">
            <a:off x="900899" y="1231170"/>
            <a:ext cx="8243101" cy="613411"/>
          </a:xfrm>
          <a:prstGeom prst="rect">
            <a:avLst/>
          </a:prstGeom>
        </p:spPr>
        <p:txBody>
          <a:bodyPr anchor="t" rtlCol="false" tIns="0" lIns="0" bIns="0" rIns="0">
            <a:spAutoFit/>
          </a:bodyPr>
          <a:lstStyle/>
          <a:p>
            <a:pPr algn="l">
              <a:lnSpc>
                <a:spcPts val="5039"/>
              </a:lnSpc>
              <a:spcBef>
                <a:spcPct val="0"/>
              </a:spcBef>
            </a:pPr>
            <a:r>
              <a:rPr lang="en-US" sz="3599">
                <a:solidFill>
                  <a:srgbClr val="000000"/>
                </a:solidFill>
                <a:latin typeface="Canva Sans"/>
                <a:ea typeface="Canva Sans"/>
                <a:cs typeface="Canva Sans"/>
                <a:sym typeface="Canva Sans"/>
              </a:rPr>
              <a:t>Giải thích output:</a:t>
            </a:r>
          </a:p>
        </p:txBody>
      </p:sp>
      <p:sp>
        <p:nvSpPr>
          <p:cNvPr name="TextBox 4" id="4"/>
          <p:cNvSpPr txBox="true"/>
          <p:nvPr/>
        </p:nvSpPr>
        <p:spPr>
          <a:xfrm rot="0">
            <a:off x="900899" y="2082848"/>
            <a:ext cx="1421963"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Ou</a:t>
            </a:r>
            <a:r>
              <a:rPr lang="en-US" sz="2999">
                <a:solidFill>
                  <a:srgbClr val="000000"/>
                </a:solidFill>
                <a:latin typeface="Canva Sans"/>
                <a:ea typeface="Canva Sans"/>
                <a:cs typeface="Canva Sans"/>
                <a:sym typeface="Canva Sans"/>
              </a:rPr>
              <a:t>tput:</a:t>
            </a:r>
          </a:p>
          <a:p>
            <a:pPr algn="l">
              <a:lnSpc>
                <a:spcPts val="4199"/>
              </a:lnSpc>
              <a:spcBef>
                <a:spcPct val="0"/>
              </a:spcBef>
            </a:pPr>
          </a:p>
        </p:txBody>
      </p:sp>
      <p:sp>
        <p:nvSpPr>
          <p:cNvPr name="TextBox 5" id="5"/>
          <p:cNvSpPr txBox="true"/>
          <p:nvPr/>
        </p:nvSpPr>
        <p:spPr>
          <a:xfrm rot="0">
            <a:off x="1028700" y="6079435"/>
            <a:ext cx="9421773" cy="1019176"/>
          </a:xfrm>
          <a:prstGeom prst="rect">
            <a:avLst/>
          </a:prstGeom>
        </p:spPr>
        <p:txBody>
          <a:bodyPr anchor="t" rtlCol="false" tIns="0" lIns="0" bIns="0" rIns="0">
            <a:spAutoFit/>
          </a:bodyPr>
          <a:lstStyle/>
          <a:p>
            <a:pPr algn="l">
              <a:lnSpc>
                <a:spcPts val="4199"/>
              </a:lnSpc>
              <a:spcBef>
                <a:spcPct val="0"/>
              </a:spcBef>
            </a:pPr>
            <a:r>
              <a:rPr lang="en-US" sz="2999">
                <a:solidFill>
                  <a:srgbClr val="000000"/>
                </a:solidFill>
                <a:latin typeface="Canva Sans"/>
                <a:ea typeface="Canva Sans"/>
                <a:cs typeface="Canva Sans"/>
                <a:sym typeface="Canva Sans"/>
              </a:rPr>
              <a:t>Giải thích: Hai optimal → draw ngay (không random).</a:t>
            </a:r>
          </a:p>
          <a:p>
            <a:pPr algn="l">
              <a:lnSpc>
                <a:spcPts val="4199"/>
              </a:lnSpc>
              <a:spcBef>
                <a:spcPct val="0"/>
              </a:spcBef>
            </a:pPr>
          </a:p>
        </p:txBody>
      </p:sp>
    </p:spTree>
  </p:cSld>
  <p:clrMapOvr>
    <a:masterClrMapping/>
  </p:clrMapOvr>
</p:sld>
</file>

<file path=ppt/slides/slide4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14350" y="3942079"/>
            <a:ext cx="17259300" cy="2317117"/>
          </a:xfrm>
          <a:prstGeom prst="rect">
            <a:avLst/>
          </a:prstGeom>
        </p:spPr>
        <p:txBody>
          <a:bodyPr anchor="t" rtlCol="false" tIns="0" lIns="0" bIns="0" rIns="0">
            <a:spAutoFit/>
          </a:bodyPr>
          <a:lstStyle/>
          <a:p>
            <a:pPr algn="ctr">
              <a:lnSpc>
                <a:spcPts val="6159"/>
              </a:lnSpc>
              <a:spcBef>
                <a:spcPct val="0"/>
              </a:spcBef>
            </a:pPr>
            <a:r>
              <a:rPr lang="en-US" sz="4399">
                <a:solidFill>
                  <a:srgbClr val="000000"/>
                </a:solidFill>
                <a:latin typeface="Canva Sans"/>
                <a:ea typeface="Canva Sans"/>
                <a:cs typeface="Canva Sans"/>
                <a:sym typeface="Canva Sans"/>
              </a:rPr>
              <a:t>Tổng</a:t>
            </a:r>
            <a:r>
              <a:rPr lang="en-US" sz="4399">
                <a:solidFill>
                  <a:srgbClr val="000000"/>
                </a:solidFill>
                <a:latin typeface="Canva Sans"/>
                <a:ea typeface="Canva Sans"/>
                <a:cs typeface="Canva Sans"/>
                <a:sym typeface="Canva Sans"/>
              </a:rPr>
              <a:t> thể, code minh họa AND-OR hiệu quả, nhưng có thể tối ưu bằng precompute plan cho model-based agent.</a:t>
            </a:r>
          </a:p>
          <a:p>
            <a:pPr algn="ctr">
              <a:lnSpc>
                <a:spcPts val="6159"/>
              </a:lnSpc>
              <a:spcBef>
                <a:spcPct val="0"/>
              </a:spcBef>
            </a:pPr>
          </a:p>
        </p:txBody>
      </p:sp>
    </p:spTree>
  </p:cSld>
  <p:clrMapOvr>
    <a:masterClrMapping/>
  </p:clrMapOvr>
</p:sld>
</file>

<file path=ppt/slides/slide4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14350" y="3942079"/>
            <a:ext cx="17259300" cy="2317117"/>
          </a:xfrm>
          <a:prstGeom prst="rect">
            <a:avLst/>
          </a:prstGeom>
        </p:spPr>
        <p:txBody>
          <a:bodyPr anchor="t" rtlCol="false" tIns="0" lIns="0" bIns="0" rIns="0">
            <a:spAutoFit/>
          </a:bodyPr>
          <a:lstStyle/>
          <a:p>
            <a:pPr algn="ctr">
              <a:lnSpc>
                <a:spcPts val="6159"/>
              </a:lnSpc>
              <a:spcBef>
                <a:spcPct val="0"/>
              </a:spcBef>
            </a:pPr>
            <a:r>
              <a:rPr lang="en-US" sz="4399">
                <a:solidFill>
                  <a:srgbClr val="000000"/>
                </a:solidFill>
                <a:latin typeface="Canva Sans"/>
                <a:ea typeface="Canva Sans"/>
                <a:cs typeface="Canva Sans"/>
                <a:sym typeface="Canva Sans"/>
              </a:rPr>
              <a:t>Tổng</a:t>
            </a:r>
            <a:r>
              <a:rPr lang="en-US" sz="4399">
                <a:solidFill>
                  <a:srgbClr val="000000"/>
                </a:solidFill>
                <a:latin typeface="Canva Sans"/>
                <a:ea typeface="Canva Sans"/>
                <a:cs typeface="Canva Sans"/>
                <a:sym typeface="Canva Sans"/>
              </a:rPr>
              <a:t> thể, code minh họa AND-OR hiệu quả, nhưng có thể tối ưu bằng precompute plan cho model-based agent.</a:t>
            </a:r>
          </a:p>
          <a:p>
            <a:pPr algn="ctr">
              <a:lnSpc>
                <a:spcPts val="6159"/>
              </a:lnSpc>
              <a:spcBef>
                <a:spcPct val="0"/>
              </a:spcBef>
            </a:pP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749838" y="7527480"/>
            <a:ext cx="47625" cy="1740345"/>
            <a:chOff x="0" y="0"/>
            <a:chExt cx="12543" cy="458362"/>
          </a:xfrm>
        </p:grpSpPr>
        <p:sp>
          <p:nvSpPr>
            <p:cNvPr name="Freeform 3" id="3"/>
            <p:cNvSpPr/>
            <p:nvPr/>
          </p:nvSpPr>
          <p:spPr>
            <a:xfrm flipH="false" flipV="false" rot="0">
              <a:off x="0" y="0"/>
              <a:ext cx="12543" cy="458362"/>
            </a:xfrm>
            <a:custGeom>
              <a:avLst/>
              <a:gdLst/>
              <a:ahLst/>
              <a:cxnLst/>
              <a:rect r="r" b="b" t="t" l="l"/>
              <a:pathLst>
                <a:path h="458362" w="12543">
                  <a:moveTo>
                    <a:pt x="0" y="0"/>
                  </a:moveTo>
                  <a:lnTo>
                    <a:pt x="12543" y="0"/>
                  </a:lnTo>
                  <a:lnTo>
                    <a:pt x="12543" y="458362"/>
                  </a:lnTo>
                  <a:lnTo>
                    <a:pt x="0" y="458362"/>
                  </a:lnTo>
                  <a:close/>
                </a:path>
              </a:pathLst>
            </a:custGeom>
            <a:gradFill rotWithShape="true">
              <a:gsLst>
                <a:gs pos="0">
                  <a:srgbClr val="45D0FC">
                    <a:alpha val="100000"/>
                  </a:srgbClr>
                </a:gs>
                <a:gs pos="100000">
                  <a:srgbClr val="085DA0">
                    <a:alpha val="100000"/>
                  </a:srgbClr>
                </a:gs>
              </a:gsLst>
              <a:lin ang="2700000"/>
            </a:gradFill>
          </p:spPr>
        </p:sp>
        <p:sp>
          <p:nvSpPr>
            <p:cNvPr name="TextBox 4" id="4"/>
            <p:cNvSpPr txBox="true"/>
            <p:nvPr/>
          </p:nvSpPr>
          <p:spPr>
            <a:xfrm>
              <a:off x="0" y="-38100"/>
              <a:ext cx="12543" cy="49646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473588" y="377888"/>
            <a:ext cx="369285" cy="363243"/>
          </a:xfrm>
          <a:custGeom>
            <a:avLst/>
            <a:gdLst/>
            <a:ahLst/>
            <a:cxnLst/>
            <a:rect r="r" b="b" t="t" l="l"/>
            <a:pathLst>
              <a:path h="363243" w="369285">
                <a:moveTo>
                  <a:pt x="0" y="0"/>
                </a:moveTo>
                <a:lnTo>
                  <a:pt x="369285" y="0"/>
                </a:lnTo>
                <a:lnTo>
                  <a:pt x="369285" y="363242"/>
                </a:lnTo>
                <a:lnTo>
                  <a:pt x="0" y="363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7259300" y="0"/>
            <a:ext cx="1028700" cy="1028700"/>
            <a:chOff x="0" y="0"/>
            <a:chExt cx="270933" cy="270933"/>
          </a:xfrm>
        </p:grpSpPr>
        <p:sp>
          <p:nvSpPr>
            <p:cNvPr name="Freeform 7" id="7"/>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8" id="8"/>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39108" y="441474"/>
            <a:ext cx="1263019"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Studio Shodwe</a:t>
            </a:r>
          </a:p>
        </p:txBody>
      </p:sp>
      <p:sp>
        <p:nvSpPr>
          <p:cNvPr name="TextBox 10" id="10"/>
          <p:cNvSpPr txBox="true"/>
          <p:nvPr/>
        </p:nvSpPr>
        <p:spPr>
          <a:xfrm rot="0">
            <a:off x="15940842" y="441474"/>
            <a:ext cx="9784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Contact</a:t>
            </a:r>
          </a:p>
        </p:txBody>
      </p:sp>
      <p:sp>
        <p:nvSpPr>
          <p:cNvPr name="TextBox 11" id="11"/>
          <p:cNvSpPr txBox="true"/>
          <p:nvPr/>
        </p:nvSpPr>
        <p:spPr>
          <a:xfrm rot="0">
            <a:off x="14385046" y="441474"/>
            <a:ext cx="1060497"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About Us</a:t>
            </a:r>
          </a:p>
        </p:txBody>
      </p:sp>
      <p:sp>
        <p:nvSpPr>
          <p:cNvPr name="TextBox 12" id="12"/>
          <p:cNvSpPr txBox="true"/>
          <p:nvPr/>
        </p:nvSpPr>
        <p:spPr>
          <a:xfrm rot="0">
            <a:off x="13154289" y="441474"/>
            <a:ext cx="735456"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Service</a:t>
            </a:r>
          </a:p>
        </p:txBody>
      </p:sp>
      <p:sp>
        <p:nvSpPr>
          <p:cNvPr name="TextBox 13" id="13"/>
          <p:cNvSpPr txBox="true"/>
          <p:nvPr/>
        </p:nvSpPr>
        <p:spPr>
          <a:xfrm rot="0">
            <a:off x="11898530" y="441474"/>
            <a:ext cx="809760" cy="197971"/>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Home</a:t>
            </a:r>
          </a:p>
        </p:txBody>
      </p:sp>
      <p:grpSp>
        <p:nvGrpSpPr>
          <p:cNvPr name="Group 14" id="14"/>
          <p:cNvGrpSpPr/>
          <p:nvPr/>
        </p:nvGrpSpPr>
        <p:grpSpPr>
          <a:xfrm rot="0">
            <a:off x="17259300" y="9258300"/>
            <a:ext cx="1028700" cy="1028700"/>
            <a:chOff x="0" y="0"/>
            <a:chExt cx="270933" cy="270933"/>
          </a:xfrm>
        </p:grpSpPr>
        <p:sp>
          <p:nvSpPr>
            <p:cNvPr name="Freeform 15" id="15"/>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gradFill rotWithShape="true">
              <a:gsLst>
                <a:gs pos="0">
                  <a:srgbClr val="45D0FC">
                    <a:alpha val="100000"/>
                  </a:srgbClr>
                </a:gs>
                <a:gs pos="100000">
                  <a:srgbClr val="085DA0">
                    <a:alpha val="100000"/>
                  </a:srgbClr>
                </a:gs>
              </a:gsLst>
              <a:lin ang="2700000"/>
            </a:gradFill>
          </p:spPr>
        </p:sp>
        <p:sp>
          <p:nvSpPr>
            <p:cNvPr name="TextBox 16" id="16"/>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7499918" y="9638067"/>
            <a:ext cx="547464"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10</a:t>
            </a:r>
          </a:p>
        </p:txBody>
      </p:sp>
      <p:grpSp>
        <p:nvGrpSpPr>
          <p:cNvPr name="Group 18" id="18"/>
          <p:cNvGrpSpPr/>
          <p:nvPr/>
        </p:nvGrpSpPr>
        <p:grpSpPr>
          <a:xfrm rot="0">
            <a:off x="24365" y="5719316"/>
            <a:ext cx="4555525" cy="4567684"/>
            <a:chOff x="0" y="0"/>
            <a:chExt cx="6074033" cy="6090246"/>
          </a:xfrm>
        </p:grpSpPr>
        <p:pic>
          <p:nvPicPr>
            <p:cNvPr name="Picture 19" id="19"/>
            <p:cNvPicPr>
              <a:picLocks noChangeAspect="true"/>
            </p:cNvPicPr>
            <p:nvPr/>
          </p:nvPicPr>
          <p:blipFill>
            <a:blip r:embed="rId4"/>
            <a:srcRect l="28110" t="0" r="5442" b="0"/>
            <a:stretch>
              <a:fillRect/>
            </a:stretch>
          </p:blipFill>
          <p:spPr>
            <a:xfrm flipH="false" flipV="false">
              <a:off x="0" y="0"/>
              <a:ext cx="6074033" cy="6090246"/>
            </a:xfrm>
            <a:prstGeom prst="rect">
              <a:avLst/>
            </a:prstGeom>
          </p:spPr>
        </p:pic>
      </p:grpSp>
      <p:grpSp>
        <p:nvGrpSpPr>
          <p:cNvPr name="Group 20" id="20"/>
          <p:cNvGrpSpPr/>
          <p:nvPr/>
        </p:nvGrpSpPr>
        <p:grpSpPr>
          <a:xfrm rot="0">
            <a:off x="4974067" y="5719316"/>
            <a:ext cx="12285233" cy="4567684"/>
            <a:chOff x="0" y="0"/>
            <a:chExt cx="16380311" cy="6090246"/>
          </a:xfrm>
        </p:grpSpPr>
        <p:pic>
          <p:nvPicPr>
            <p:cNvPr name="Picture 21" id="21"/>
            <p:cNvPicPr>
              <a:picLocks noChangeAspect="true"/>
            </p:cNvPicPr>
            <p:nvPr/>
          </p:nvPicPr>
          <p:blipFill>
            <a:blip r:embed="rId5"/>
            <a:srcRect l="0" t="22097" r="0" b="22097"/>
            <a:stretch>
              <a:fillRect/>
            </a:stretch>
          </p:blipFill>
          <p:spPr>
            <a:xfrm flipH="false" flipV="false">
              <a:off x="0" y="0"/>
              <a:ext cx="16380311" cy="6090246"/>
            </a:xfrm>
            <a:prstGeom prst="rect">
              <a:avLst/>
            </a:prstGeom>
          </p:spPr>
        </p:pic>
      </p:grpSp>
      <p:sp>
        <p:nvSpPr>
          <p:cNvPr name="TextBox 22" id="22"/>
          <p:cNvSpPr txBox="true"/>
          <p:nvPr/>
        </p:nvSpPr>
        <p:spPr>
          <a:xfrm rot="0">
            <a:off x="2049828" y="2093225"/>
            <a:ext cx="5088349" cy="1825476"/>
          </a:xfrm>
          <a:prstGeom prst="rect">
            <a:avLst/>
          </a:prstGeom>
        </p:spPr>
        <p:txBody>
          <a:bodyPr anchor="t" rtlCol="false" tIns="0" lIns="0" bIns="0" rIns="0">
            <a:spAutoFit/>
          </a:bodyPr>
          <a:lstStyle/>
          <a:p>
            <a:pPr algn="l">
              <a:lnSpc>
                <a:spcPts val="7150"/>
              </a:lnSpc>
            </a:pPr>
            <a:r>
              <a:rPr lang="en-US" sz="6500" b="true">
                <a:solidFill>
                  <a:srgbClr val="02CDFF"/>
                </a:solidFill>
                <a:latin typeface="Barlow Condensed Bold"/>
                <a:ea typeface="Barlow Condensed Bold"/>
                <a:cs typeface="Barlow Condensed Bold"/>
                <a:sym typeface="Barlow Condensed Bold"/>
              </a:rPr>
              <a:t>Thank You For Watching</a:t>
            </a:r>
          </a:p>
        </p:txBody>
      </p:sp>
      <p:sp>
        <p:nvSpPr>
          <p:cNvPr name="TextBox 23" id="23"/>
          <p:cNvSpPr txBox="true"/>
          <p:nvPr/>
        </p:nvSpPr>
        <p:spPr>
          <a:xfrm rot="0">
            <a:off x="7843952" y="2249628"/>
            <a:ext cx="3515769" cy="2082582"/>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24" id="24"/>
          <p:cNvSpPr txBox="true"/>
          <p:nvPr/>
        </p:nvSpPr>
        <p:spPr>
          <a:xfrm rot="0">
            <a:off x="12722403" y="2249628"/>
            <a:ext cx="3515769" cy="2082582"/>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DAG1uwCSssI</dc:identifier>
  <dcterms:modified xsi:type="dcterms:W3CDTF">2011-08-01T06:04:30Z</dcterms:modified>
  <cp:revision>1</cp:revision>
  <dc:title>LAB04</dc:title>
</cp:coreProperties>
</file>